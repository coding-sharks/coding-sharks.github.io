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4" r:id="rId2"/>
  </p:sldMasterIdLst>
  <p:notesMasterIdLst>
    <p:notesMasterId r:id="rId12"/>
  </p:notesMasterIdLst>
  <p:sldIdLst>
    <p:sldId id="427" r:id="rId3"/>
    <p:sldId id="486" r:id="rId4"/>
    <p:sldId id="487" r:id="rId5"/>
    <p:sldId id="491" r:id="rId6"/>
    <p:sldId id="492" r:id="rId7"/>
    <p:sldId id="493" r:id="rId8"/>
    <p:sldId id="489" r:id="rId9"/>
    <p:sldId id="490" r:id="rId10"/>
    <p:sldId id="261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1D9"/>
    <a:srgbClr val="D9F2D0"/>
    <a:srgbClr val="013DA3"/>
    <a:srgbClr val="8AB6FF"/>
    <a:srgbClr val="4F91FF"/>
    <a:srgbClr val="08369C"/>
    <a:srgbClr val="EA8804"/>
    <a:srgbClr val="C00000"/>
    <a:srgbClr val="9EC3E7"/>
    <a:srgbClr val="51C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72"/>
    <p:restoredTop sz="96181"/>
  </p:normalViewPr>
  <p:slideViewPr>
    <p:cSldViewPr snapToGrid="0">
      <p:cViewPr varScale="1">
        <p:scale>
          <a:sx n="122" d="100"/>
          <a:sy n="122" d="100"/>
        </p:scale>
        <p:origin x="10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A6A13A-C83D-874B-A700-3698CCBE54FE}" type="datetimeFigureOut">
              <a:rPr kumimoji="1" lang="zh-CN" altLang="en-US" smtClean="0"/>
              <a:t>2026/8/26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B4FA73-E89B-8042-92B9-92831676CE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21826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80901-D08D-4E3C-39E9-49317BA74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05D8A6-1A80-A2B8-B844-2027CC426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A5DC90-EDEE-D227-16A2-EF8760D16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 dirty="0">
              <a:solidFill>
                <a:srgbClr val="404040"/>
              </a:solidFill>
              <a:effectLst/>
              <a:latin typeface="quote-cjk-patch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A03E62-77A8-3B4C-E960-C206709649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4FA73-E89B-8042-92B9-92831676CEF2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4202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762F9-84EB-2ABD-FE99-050BDF562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EA65C4-50EE-F681-F1F7-488864D3C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00547E9-6636-7776-F236-B8BDB1A83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 dirty="0">
              <a:solidFill>
                <a:srgbClr val="404040"/>
              </a:solidFill>
              <a:effectLst/>
              <a:latin typeface="quote-cjk-patch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4AC6BD-B20D-6B8F-AD5F-F053705E35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4FA73-E89B-8042-92B9-92831676CEF2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84127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9E459-D248-9356-BF38-2D7D58539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ADCBB2-21FC-0ABE-4CDF-5503C5D213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EEA583-E76D-440B-50FD-ABE06F875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A6F9CE-4A5D-7DBF-E6EF-0B395F77E1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4FA73-E89B-8042-92B9-92831676CEF2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30627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47059-440A-47D7-5444-1CA6F694C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13B430-C831-75A8-8863-84FF6155EC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3865A3-6615-30D6-23E1-1DEA8475A2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A0CFD7-F1D3-674C-AA4C-165160A91F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4FA73-E89B-8042-92B9-92831676CEF2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5351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C00C3-AD85-ECA2-7E53-17182050D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2732588-2B71-2064-B017-9E2F11AC8E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54C1A68-8B19-CED3-773D-0E4F4CFE2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7B098F-60CE-18FF-306E-825FCA40A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4FA73-E89B-8042-92B9-92831676CEF2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32889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14EB9-7D2D-5B20-0E41-03FD21D4C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EC0712-92CF-23C8-B7FB-9BED78BB5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83D786-817C-43B1-6623-58C1F4960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994772-3D92-0ED0-44B7-32E3172B4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4FA73-E89B-8042-92B9-92831676CEF2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71566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43045-E289-2B21-02D1-DB63B9FB3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58E345-E027-9C32-FD6F-8D2AFFF651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FEB2A9B-FFF3-66FF-EC9D-986654FC9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FontTx/>
              <a:buNone/>
            </a:pPr>
            <a:endParaRPr lang="en-US" altLang="zh-CN" b="1" i="0" dirty="0">
              <a:solidFill>
                <a:srgbClr val="404040"/>
              </a:solidFill>
              <a:effectLst/>
              <a:latin typeface="quote-cjk-patch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31A2A9-FED7-9AD5-1621-6E2B87F8F7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4FA73-E89B-8042-92B9-92831676CEF2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41012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4FA73-E89B-8042-92B9-92831676CEF2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94440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图形用户界面&#10;&#10;描述已自动生成">
            <a:extLst>
              <a:ext uri="{FF2B5EF4-FFF2-40B4-BE49-F238E27FC236}">
                <a16:creationId xmlns:a16="http://schemas.microsoft.com/office/drawing/2014/main" id="{DA3DA95E-224B-DB72-1ECB-1EB3000256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3342" y="319835"/>
            <a:ext cx="1038843" cy="38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126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3BFE524F-6D52-36FC-DED6-20C7213DD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33" y="348428"/>
            <a:ext cx="309281" cy="317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图片 4" descr="图片包含 图形用户界面&#10;&#10;描述已自动生成">
            <a:extLst>
              <a:ext uri="{FF2B5EF4-FFF2-40B4-BE49-F238E27FC236}">
                <a16:creationId xmlns:a16="http://schemas.microsoft.com/office/drawing/2014/main" id="{8F186ED2-49C7-6BB7-8B82-DA496DF718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63342" y="319835"/>
            <a:ext cx="1038843" cy="386576"/>
          </a:xfrm>
          <a:prstGeom prst="rect">
            <a:avLst/>
          </a:prstGeom>
        </p:spPr>
      </p:pic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F965098-3A78-AA2F-FF93-67CF4B47C4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008" y="308929"/>
            <a:ext cx="10112833" cy="3968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kumimoji="1" lang="zh-CN" altLang="en-US" sz="2400" b="1" kern="1200" dirty="0" smtClean="0">
                <a:solidFill>
                  <a:srgbClr val="0051D9"/>
                </a:solidFill>
                <a:latin typeface="TencentSans W7" panose="020C04030202040F0204" pitchFamily="34" charset="-122"/>
                <a:ea typeface="TencentSans W7" panose="020C04030202040F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310190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图形用户界面&#10;&#10;描述已自动生成">
            <a:extLst>
              <a:ext uri="{FF2B5EF4-FFF2-40B4-BE49-F238E27FC236}">
                <a16:creationId xmlns:a16="http://schemas.microsoft.com/office/drawing/2014/main" id="{DA3DA95E-224B-DB72-1ECB-1EB3000256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3342" y="319835"/>
            <a:ext cx="1038843" cy="38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822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3BFE524F-6D52-36FC-DED6-20C7213DD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33" y="348428"/>
            <a:ext cx="309281" cy="317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图片 4" descr="图片包含 图形用户界面&#10;&#10;描述已自动生成">
            <a:extLst>
              <a:ext uri="{FF2B5EF4-FFF2-40B4-BE49-F238E27FC236}">
                <a16:creationId xmlns:a16="http://schemas.microsoft.com/office/drawing/2014/main" id="{8F186ED2-49C7-6BB7-8B82-DA496DF718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63342" y="319835"/>
            <a:ext cx="1038843" cy="386576"/>
          </a:xfrm>
          <a:prstGeom prst="rect">
            <a:avLst/>
          </a:prstGeom>
        </p:spPr>
      </p:pic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F965098-3A78-AA2F-FF93-67CF4B47C4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008" y="308929"/>
            <a:ext cx="10112833" cy="3968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kumimoji="1" lang="zh-CN" altLang="en-US" sz="2400" b="1" kern="1200" dirty="0" smtClean="0">
                <a:solidFill>
                  <a:srgbClr val="0051D9"/>
                </a:solidFill>
                <a:latin typeface="TencentSans W7" panose="020C04030202040F0204" pitchFamily="34" charset="-122"/>
                <a:ea typeface="TencentSans W7" panose="020C04030202040F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477824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未标题-5.jpg" descr="未标题-5.jpg">
            <a:extLst>
              <a:ext uri="{FF2B5EF4-FFF2-40B4-BE49-F238E27FC236}">
                <a16:creationId xmlns:a16="http://schemas.microsoft.com/office/drawing/2014/main" id="{FABB26B8-30CB-886D-E854-C4310B9CEA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D94B427-15E7-8A8D-8144-A3186817C2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72383" y="392770"/>
            <a:ext cx="1743146" cy="64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941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EA5923-1D14-EAF0-907D-BB1A173A9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E0DC22-7230-7A45-26A3-E05A53B83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C52DC0-F9B9-BB02-92B4-35326BBCE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DD4D-C9C6-854D-ACD8-3E1E4ED77761}" type="datetimeFigureOut">
              <a:rPr kumimoji="1" lang="zh-CN" altLang="en-US" smtClean="0"/>
              <a:t>2026/8/26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0968FD-D43B-48AF-A088-7E8CD8C9B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F0C62D-4E54-BDB9-FB9A-D12AC10AD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0714F-99B6-C54F-9A96-D13BEB5AA32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61861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8919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0813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B4FD2BF6-0AFB-78C8-B01B-671735725C11}"/>
              </a:ext>
            </a:extLst>
          </p:cNvPr>
          <p:cNvSpPr txBox="1"/>
          <p:nvPr/>
        </p:nvSpPr>
        <p:spPr>
          <a:xfrm>
            <a:off x="1791628" y="2648414"/>
            <a:ext cx="86087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low Sans SC" panose="020B0400000000000000" pitchFamily="34" charset="-128"/>
                <a:ea typeface="Glow Sans SC" panose="020B0400000000000000" pitchFamily="34" charset="-128"/>
                <a:cs typeface="+mn-cs"/>
              </a:rPr>
              <a:t>述职汇报</a:t>
            </a:r>
            <a:endParaRPr lang="en-US" altLang="zh-CN" sz="5400" b="1" dirty="0">
              <a:solidFill>
                <a:srgbClr val="FFFFFF"/>
              </a:solidFill>
              <a:latin typeface="Glow Sans SC" panose="020B0400000000000000" pitchFamily="34" charset="-128"/>
              <a:ea typeface="Glow Sans SC" panose="020B0400000000000000" pitchFamily="34" charset="-128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C977024-0C29-8CC6-4F9E-C9DC4DA2E417}"/>
              </a:ext>
            </a:extLst>
          </p:cNvPr>
          <p:cNvSpPr txBox="1"/>
          <p:nvPr/>
        </p:nvSpPr>
        <p:spPr>
          <a:xfrm>
            <a:off x="3018264" y="6316494"/>
            <a:ext cx="61554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 err="1">
                <a:solidFill>
                  <a:prstClr val="white"/>
                </a:solidFill>
                <a:latin typeface="Glow Sans SC Normal Book" panose="020B0400000000000000" pitchFamily="34" charset="-128"/>
                <a:ea typeface="Glow Sans SC Normal Book" panose="020B0400000000000000" pitchFamily="34" charset="-128"/>
              </a:rPr>
              <a:t>rycolzhang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low Sans SC Normal Book" panose="020B0400000000000000" pitchFamily="34" charset="-128"/>
                <a:ea typeface="Glow Sans SC Normal Book" panose="020B0400000000000000" pitchFamily="34" charset="-128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low Sans SC Normal Book" panose="020B0400000000000000" pitchFamily="34" charset="-128"/>
                <a:ea typeface="Glow Sans SC Normal Book" panose="020B0400000000000000" pitchFamily="34" charset="-128"/>
                <a:cs typeface="+mn-cs"/>
              </a:rPr>
              <a:t>    2025.11.26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low Sans SC Normal Book" panose="020B0400000000000000" pitchFamily="34" charset="-128"/>
              <a:ea typeface="Glow Sans SC Normal Book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7704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EA54D-24B1-D0CB-EFDC-223BF3471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2EEEFE0-D657-A485-97EC-9543AF0E00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008" y="322376"/>
            <a:ext cx="10112833" cy="396875"/>
          </a:xfrm>
        </p:spPr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个人经历简述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A89B30D3-A4F5-D67A-D73C-8DC4C435DDB3}"/>
              </a:ext>
            </a:extLst>
          </p:cNvPr>
          <p:cNvCxnSpPr/>
          <p:nvPr/>
        </p:nvCxnSpPr>
        <p:spPr>
          <a:xfrm>
            <a:off x="660400" y="1701800"/>
            <a:ext cx="10731500" cy="0"/>
          </a:xfrm>
          <a:prstGeom prst="line">
            <a:avLst/>
          </a:prstGeom>
          <a:ln w="31750">
            <a:solidFill>
              <a:srgbClr val="0051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55C362A8-7BD5-3D97-F86A-BA2E525DC826}"/>
              </a:ext>
            </a:extLst>
          </p:cNvPr>
          <p:cNvSpPr/>
          <p:nvPr/>
        </p:nvSpPr>
        <p:spPr>
          <a:xfrm>
            <a:off x="1130300" y="1511300"/>
            <a:ext cx="381000" cy="381000"/>
          </a:xfrm>
          <a:prstGeom prst="ellipse">
            <a:avLst/>
          </a:prstGeom>
          <a:solidFill>
            <a:srgbClr val="0051D9"/>
          </a:solidFill>
          <a:ln>
            <a:solidFill>
              <a:srgbClr val="0051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5E859BF-A3E1-AD5E-9F04-556FEAB48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76" y="2178674"/>
            <a:ext cx="1087550" cy="108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F3FB8C75-BD33-51CB-2829-8E5462F8F0BA}"/>
              </a:ext>
            </a:extLst>
          </p:cNvPr>
          <p:cNvSpPr/>
          <p:nvPr/>
        </p:nvSpPr>
        <p:spPr>
          <a:xfrm>
            <a:off x="3098800" y="1511300"/>
            <a:ext cx="381000" cy="381000"/>
          </a:xfrm>
          <a:prstGeom prst="ellipse">
            <a:avLst/>
          </a:prstGeom>
          <a:solidFill>
            <a:srgbClr val="0051D9"/>
          </a:solidFill>
          <a:ln>
            <a:solidFill>
              <a:srgbClr val="0051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30" name="Picture 6" descr="华为诺亚方舟实验室迎90后新掌门-电子工程专辑">
            <a:extLst>
              <a:ext uri="{FF2B5EF4-FFF2-40B4-BE49-F238E27FC236}">
                <a16:creationId xmlns:a16="http://schemas.microsoft.com/office/drawing/2014/main" id="{09A960D0-8648-0DBE-F451-F28106CFA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357" y="2148934"/>
            <a:ext cx="2505886" cy="1070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米哈游-TECH OTAKUS SAVE THE WORLD">
            <a:extLst>
              <a:ext uri="{FF2B5EF4-FFF2-40B4-BE49-F238E27FC236}">
                <a16:creationId xmlns:a16="http://schemas.microsoft.com/office/drawing/2014/main" id="{65ED5A35-1E5F-96DB-85D0-1EE4F1C07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974" y="1892300"/>
            <a:ext cx="1898643" cy="1898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椭圆 9">
            <a:extLst>
              <a:ext uri="{FF2B5EF4-FFF2-40B4-BE49-F238E27FC236}">
                <a16:creationId xmlns:a16="http://schemas.microsoft.com/office/drawing/2014/main" id="{5B877150-9E7C-3D7F-0A97-6C80BA6026BF}"/>
              </a:ext>
            </a:extLst>
          </p:cNvPr>
          <p:cNvSpPr/>
          <p:nvPr/>
        </p:nvSpPr>
        <p:spPr>
          <a:xfrm>
            <a:off x="5464795" y="1511300"/>
            <a:ext cx="381000" cy="381000"/>
          </a:xfrm>
          <a:prstGeom prst="ellipse">
            <a:avLst/>
          </a:prstGeom>
          <a:solidFill>
            <a:srgbClr val="0051D9"/>
          </a:solidFill>
          <a:ln>
            <a:solidFill>
              <a:srgbClr val="0051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594548E-BB33-6C26-A108-C98C403EB397}"/>
              </a:ext>
            </a:extLst>
          </p:cNvPr>
          <p:cNvSpPr/>
          <p:nvPr/>
        </p:nvSpPr>
        <p:spPr>
          <a:xfrm>
            <a:off x="8849970" y="1535199"/>
            <a:ext cx="381000" cy="381000"/>
          </a:xfrm>
          <a:prstGeom prst="ellipse">
            <a:avLst/>
          </a:prstGeom>
          <a:solidFill>
            <a:srgbClr val="0051D9"/>
          </a:solidFill>
          <a:ln>
            <a:solidFill>
              <a:srgbClr val="0051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EF3945E0-95DD-3E15-0987-93AFC9A9A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059" y="2157923"/>
            <a:ext cx="1070821" cy="1070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2AE464A-770B-DB34-F934-2D21AE571438}"/>
              </a:ext>
            </a:extLst>
          </p:cNvPr>
          <p:cNvSpPr txBox="1"/>
          <p:nvPr/>
        </p:nvSpPr>
        <p:spPr>
          <a:xfrm>
            <a:off x="371478" y="3790943"/>
            <a:ext cx="18986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语音算法研究</a:t>
            </a:r>
            <a:endParaRPr kumimoji="1" lang="en-US" altLang="zh-CN" sz="16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语音合成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歌声合成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9A6B94-2817-D4D5-B333-0E42F306115D}"/>
              </a:ext>
            </a:extLst>
          </p:cNvPr>
          <p:cNvSpPr txBox="1"/>
          <p:nvPr/>
        </p:nvSpPr>
        <p:spPr>
          <a:xfrm>
            <a:off x="452035" y="1187649"/>
            <a:ext cx="18986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2021.09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～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2024.03</a:t>
            </a:r>
            <a:endParaRPr lang="zh-CN" altLang="en-US" sz="14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F6BA966-4833-4FFC-3D67-3345120E9D90}"/>
              </a:ext>
            </a:extLst>
          </p:cNvPr>
          <p:cNvSpPr txBox="1"/>
          <p:nvPr/>
        </p:nvSpPr>
        <p:spPr>
          <a:xfrm>
            <a:off x="2350678" y="1187649"/>
            <a:ext cx="18986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2021.08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～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2022.11</a:t>
            </a:r>
            <a:endParaRPr lang="zh-CN" altLang="en-US" sz="14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1000CCE-8F2B-0CAF-C360-88B9AE4A0D4B}"/>
              </a:ext>
            </a:extLst>
          </p:cNvPr>
          <p:cNvSpPr txBox="1"/>
          <p:nvPr/>
        </p:nvSpPr>
        <p:spPr>
          <a:xfrm>
            <a:off x="4705973" y="1187649"/>
            <a:ext cx="18986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2023.05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～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2023.10</a:t>
            </a:r>
            <a:endParaRPr lang="zh-CN" altLang="en-US" sz="14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CF7027A-C04F-3FA6-C951-E6819AEA8787}"/>
              </a:ext>
            </a:extLst>
          </p:cNvPr>
          <p:cNvSpPr txBox="1"/>
          <p:nvPr/>
        </p:nvSpPr>
        <p:spPr>
          <a:xfrm>
            <a:off x="8306348" y="1198848"/>
            <a:ext cx="1468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2024.04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～至今</a:t>
            </a:r>
            <a:endParaRPr lang="zh-CN" altLang="en-US" sz="14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BAF6030-8E6F-86C2-3BB4-C375B28A894F}"/>
              </a:ext>
            </a:extLst>
          </p:cNvPr>
          <p:cNvSpPr txBox="1"/>
          <p:nvPr/>
        </p:nvSpPr>
        <p:spPr>
          <a:xfrm>
            <a:off x="2530478" y="3790943"/>
            <a:ext cx="23372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语音算法实习</a:t>
            </a:r>
            <a:endParaRPr kumimoji="1" lang="en-US" altLang="zh-CN" sz="16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大规模歌声数据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歌声合成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歌声编辑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歌声相关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paper7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篇，一作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篇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Citation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275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B915D9D-A6A8-E9D5-0D75-1CE71611DAAE}"/>
              </a:ext>
            </a:extLst>
          </p:cNvPr>
          <p:cNvSpPr txBox="1"/>
          <p:nvPr/>
        </p:nvSpPr>
        <p:spPr>
          <a:xfrm>
            <a:off x="4902962" y="3790943"/>
            <a:ext cx="18986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语音算法实习</a:t>
            </a:r>
            <a:endParaRPr kumimoji="1" lang="en-US" altLang="zh-CN" sz="16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歌声转换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语音转换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28B6D93-3CEB-05F8-A085-EEE23E23E288}"/>
              </a:ext>
            </a:extLst>
          </p:cNvPr>
          <p:cNvSpPr txBox="1"/>
          <p:nvPr/>
        </p:nvSpPr>
        <p:spPr>
          <a:xfrm>
            <a:off x="7238584" y="3774840"/>
            <a:ext cx="233729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2024H2</a:t>
            </a:r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～</a:t>
            </a:r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2025H1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负责语音大模型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V1.0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语音</a:t>
            </a:r>
            <a:r>
              <a:rPr kumimoji="1" lang="zh-CN" altLang="en-US" sz="1600" b="1" dirty="0">
                <a:solidFill>
                  <a:srgbClr val="0051D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规模化落地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优化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三角洲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指挥官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灵宝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句错字率</a:t>
            </a:r>
            <a:r>
              <a:rPr kumimoji="1" lang="zh-CN" altLang="en-US" sz="1600" b="1" dirty="0">
                <a:solidFill>
                  <a:srgbClr val="0051D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平均</a:t>
            </a:r>
            <a:r>
              <a:rPr kumimoji="1" lang="en-US" altLang="zh-CN" sz="1600" b="1" dirty="0">
                <a:solidFill>
                  <a:srgbClr val="0051D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0.85%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，行业最低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008A460-6221-7145-3E53-78E991E3DFD2}"/>
              </a:ext>
            </a:extLst>
          </p:cNvPr>
          <p:cNvSpPr txBox="1"/>
          <p:nvPr/>
        </p:nvSpPr>
        <p:spPr>
          <a:xfrm>
            <a:off x="9774590" y="3774839"/>
            <a:ext cx="24215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2025H2</a:t>
            </a:r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～至今</a:t>
            </a:r>
            <a:endParaRPr kumimoji="1" lang="en-US" altLang="zh-CN" sz="16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负责语音大模型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V2.0</a:t>
            </a:r>
            <a:r>
              <a:rPr kumimoji="1" lang="zh-CN" altLang="en-US" sz="1600" b="1" dirty="0">
                <a:solidFill>
                  <a:srgbClr val="0051D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拟人化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语音优化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中文解说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多语种翻译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主观自然度相比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V1.0</a:t>
            </a:r>
            <a:r>
              <a:rPr kumimoji="1" lang="zh-CN" altLang="en-US" sz="1600" b="1" dirty="0">
                <a:solidFill>
                  <a:srgbClr val="0051D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提升</a:t>
            </a:r>
            <a:r>
              <a:rPr kumimoji="1" lang="en-US" altLang="zh-CN" sz="1600" b="1" dirty="0">
                <a:solidFill>
                  <a:srgbClr val="0051D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58.1%</a:t>
            </a:r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拟人度大幅提升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3086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088CF-AC44-9425-FA79-E63DF8114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7446B3C-2DC2-E4E3-1C3E-48D7C0441D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008" y="322376"/>
            <a:ext cx="10112833" cy="396875"/>
          </a:xfrm>
        </p:spPr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目录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B614A1C-5B6D-AEF3-F2BB-1277635A9780}"/>
              </a:ext>
            </a:extLst>
          </p:cNvPr>
          <p:cNvGrpSpPr/>
          <p:nvPr/>
        </p:nvGrpSpPr>
        <p:grpSpPr>
          <a:xfrm>
            <a:off x="1281221" y="1523920"/>
            <a:ext cx="6594418" cy="2391862"/>
            <a:chOff x="7432669" y="766192"/>
            <a:chExt cx="6285780" cy="2391862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0642F57-178B-1998-AD77-7553755650D1}"/>
                </a:ext>
              </a:extLst>
            </p:cNvPr>
            <p:cNvSpPr txBox="1"/>
            <p:nvPr/>
          </p:nvSpPr>
          <p:spPr>
            <a:xfrm>
              <a:off x="7751158" y="766192"/>
              <a:ext cx="59672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000" b="1" dirty="0">
                  <a:solidFill>
                    <a:srgbClr val="33333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语音大模型</a:t>
              </a:r>
              <a:r>
                <a:rPr kumimoji="1" lang="en-US" altLang="zh-CN" sz="2000" b="1" dirty="0">
                  <a:solidFill>
                    <a:srgbClr val="33333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V1.0</a:t>
              </a:r>
              <a:r>
                <a:rPr kumimoji="1" lang="zh-CN" altLang="en-US" sz="2000" b="1" dirty="0">
                  <a:solidFill>
                    <a:srgbClr val="33333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r>
                <a:rPr kumimoji="1" lang="en-US" altLang="zh-CN" sz="2000" b="1" dirty="0">
                  <a:solidFill>
                    <a:srgbClr val="33333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-&gt; </a:t>
              </a:r>
              <a:r>
                <a:rPr kumimoji="1" lang="zh-CN" altLang="en-US" sz="2000" b="1" dirty="0">
                  <a:solidFill>
                    <a:srgbClr val="33333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语音大模型规模化落地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E4CC141-F2D0-702F-26C8-9D1F35D35172}"/>
                </a:ext>
              </a:extLst>
            </p:cNvPr>
            <p:cNvSpPr txBox="1"/>
            <p:nvPr/>
          </p:nvSpPr>
          <p:spPr>
            <a:xfrm>
              <a:off x="7819245" y="1756221"/>
              <a:ext cx="54831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000" b="1" dirty="0">
                  <a:solidFill>
                    <a:srgbClr val="33333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语音大模型</a:t>
              </a:r>
              <a:r>
                <a:rPr kumimoji="1" lang="en-US" altLang="zh-CN" sz="2000" b="1" dirty="0">
                  <a:solidFill>
                    <a:srgbClr val="33333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V2.0</a:t>
              </a:r>
              <a:r>
                <a:rPr kumimoji="1" lang="zh-CN" altLang="en-US" sz="2000" b="1" dirty="0">
                  <a:solidFill>
                    <a:srgbClr val="33333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r>
                <a:rPr kumimoji="1" lang="en-US" altLang="zh-CN" sz="2000" b="1" dirty="0">
                  <a:solidFill>
                    <a:srgbClr val="33333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-&gt; </a:t>
              </a:r>
              <a:r>
                <a:rPr kumimoji="1" lang="zh-CN" altLang="en-US" sz="2000" b="1" dirty="0">
                  <a:solidFill>
                    <a:srgbClr val="33333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高表现、高拟人度语音生成</a:t>
              </a: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B432470F-1FA8-DEF4-0D8B-B42432407632}"/>
                </a:ext>
              </a:extLst>
            </p:cNvPr>
            <p:cNvSpPr/>
            <p:nvPr/>
          </p:nvSpPr>
          <p:spPr>
            <a:xfrm>
              <a:off x="7432669" y="779929"/>
              <a:ext cx="386576" cy="386576"/>
            </a:xfrm>
            <a:prstGeom prst="ellipse">
              <a:avLst/>
            </a:pr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  <a:endPara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71D8282E-137A-CDC2-DADB-834A7CFACB46}"/>
                </a:ext>
              </a:extLst>
            </p:cNvPr>
            <p:cNvSpPr/>
            <p:nvPr/>
          </p:nvSpPr>
          <p:spPr>
            <a:xfrm>
              <a:off x="7432669" y="1756221"/>
              <a:ext cx="386576" cy="386576"/>
            </a:xfrm>
            <a:prstGeom prst="ellipse">
              <a:avLst/>
            </a:pr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</a:t>
              </a:r>
              <a:endPara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6587995E-1591-4D6D-BBB1-B08C323BEF2C}"/>
                </a:ext>
              </a:extLst>
            </p:cNvPr>
            <p:cNvSpPr/>
            <p:nvPr/>
          </p:nvSpPr>
          <p:spPr>
            <a:xfrm>
              <a:off x="7437940" y="2738825"/>
              <a:ext cx="386576" cy="386576"/>
            </a:xfrm>
            <a:prstGeom prst="ellipse">
              <a:avLst/>
            </a:pr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3</a:t>
              </a:r>
              <a:endPara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94FF28F5-05E3-B45A-1F6B-8E4C054E0BA4}"/>
                </a:ext>
              </a:extLst>
            </p:cNvPr>
            <p:cNvSpPr txBox="1"/>
            <p:nvPr/>
          </p:nvSpPr>
          <p:spPr>
            <a:xfrm>
              <a:off x="7819245" y="2757944"/>
              <a:ext cx="54831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未来工作与挑战</a:t>
              </a:r>
              <a:endParaRPr kumimoji="1" lang="zh-CN" altLang="en-US" sz="2000" b="1" i="1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3177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C42D2-DE98-7C9C-B0FA-4F6301B9E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091B396-0939-1521-A036-17E7A1A290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9434" y="308929"/>
            <a:ext cx="10129666" cy="396875"/>
          </a:xfrm>
        </p:spPr>
        <p:txBody>
          <a:bodyPr/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V1.0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语音大模型问题与解决方案</a:t>
            </a:r>
          </a:p>
          <a:p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6" name="矩形: 圆角 30">
            <a:extLst>
              <a:ext uri="{FF2B5EF4-FFF2-40B4-BE49-F238E27FC236}">
                <a16:creationId xmlns:a16="http://schemas.microsoft.com/office/drawing/2014/main" id="{CA2565DB-4B97-3CF3-DFC7-FAE13367A8E2}"/>
              </a:ext>
            </a:extLst>
          </p:cNvPr>
          <p:cNvSpPr/>
          <p:nvPr/>
        </p:nvSpPr>
        <p:spPr>
          <a:xfrm>
            <a:off x="3150683" y="980348"/>
            <a:ext cx="8551616" cy="324403"/>
          </a:xfrm>
          <a:prstGeom prst="roundRect">
            <a:avLst>
              <a:gd name="adj" fmla="val 5715"/>
            </a:avLst>
          </a:prstGeom>
          <a:solidFill>
            <a:srgbClr val="0051D9"/>
          </a:solidFill>
          <a:ln>
            <a:solidFill>
              <a:srgbClr val="0051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TTS</a:t>
            </a:r>
            <a:r>
              <a:rPr lang="zh-CN" alt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V1.0</a:t>
            </a:r>
            <a:endParaRPr lang="zh-CN" altLang="en-US" sz="16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7" name="矩形: 圆角 30">
            <a:extLst>
              <a:ext uri="{FF2B5EF4-FFF2-40B4-BE49-F238E27FC236}">
                <a16:creationId xmlns:a16="http://schemas.microsoft.com/office/drawing/2014/main" id="{AACB4BF9-5039-0661-5316-0377A3C46A94}"/>
              </a:ext>
            </a:extLst>
          </p:cNvPr>
          <p:cNvSpPr/>
          <p:nvPr/>
        </p:nvSpPr>
        <p:spPr>
          <a:xfrm>
            <a:off x="218617" y="936246"/>
            <a:ext cx="2685948" cy="396875"/>
          </a:xfrm>
          <a:prstGeom prst="roundRect">
            <a:avLst>
              <a:gd name="adj" fmla="val 5715"/>
            </a:avLst>
          </a:prstGeom>
          <a:solidFill>
            <a:srgbClr val="0051D9"/>
          </a:solidFill>
          <a:ln>
            <a:solidFill>
              <a:srgbClr val="0051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挑战和问题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2007160-69E8-A3FA-C994-A1752FB242A8}"/>
              </a:ext>
            </a:extLst>
          </p:cNvPr>
          <p:cNvSpPr/>
          <p:nvPr/>
        </p:nvSpPr>
        <p:spPr>
          <a:xfrm>
            <a:off x="3155576" y="1389948"/>
            <a:ext cx="8551617" cy="5159123"/>
          </a:xfrm>
          <a:prstGeom prst="rect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D246B9F-7D9E-A77E-BDAD-4414D5903B46}"/>
              </a:ext>
            </a:extLst>
          </p:cNvPr>
          <p:cNvSpPr/>
          <p:nvPr/>
        </p:nvSpPr>
        <p:spPr>
          <a:xfrm>
            <a:off x="217371" y="1389948"/>
            <a:ext cx="2694488" cy="5228146"/>
          </a:xfrm>
          <a:prstGeom prst="rect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2E45675-C112-94F9-0EA5-C903BC09EB36}"/>
              </a:ext>
            </a:extLst>
          </p:cNvPr>
          <p:cNvSpPr txBox="1"/>
          <p:nvPr/>
        </p:nvSpPr>
        <p:spPr>
          <a:xfrm>
            <a:off x="286160" y="1428769"/>
            <a:ext cx="2618405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语音稳定性：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容易出现发音错误，声调错误等问题；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语音质量：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语音压缩编码造成信息损耗，语音解码出现音质抖哑破问题；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推理效率：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AR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Diffusion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模型推理耗时久，整句推理达数秒，无法制支撑实时交互。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A75F0A-06AD-789A-FF28-BF3629398FC4}"/>
              </a:ext>
            </a:extLst>
          </p:cNvPr>
          <p:cNvSpPr txBox="1"/>
          <p:nvPr/>
        </p:nvSpPr>
        <p:spPr>
          <a:xfrm>
            <a:off x="3510894" y="1559830"/>
            <a:ext cx="786011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自研</a:t>
            </a:r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speech</a:t>
            </a:r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tokenizer</a:t>
            </a:r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模型：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语音信息留存率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64.7% -&gt; </a:t>
            </a:r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92.4%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，充分利用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LLM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建模能力，降低发音以及声调错误；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kumimoji="1" lang="en-US" altLang="zh-CN" sz="16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Detokenizer</a:t>
            </a:r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Flow-matching</a:t>
            </a:r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）：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高质量音频表征还原，音质稳定性提升，灵宝离线语音发音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case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率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18.86% -&gt; </a:t>
            </a:r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3.35%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超分辨率声音解码器：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支持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16k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～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48k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全采样率高品质音频生成；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Flow-matching</a:t>
            </a:r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chunk</a:t>
            </a:r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训练推理，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支持流式语音合成，首包延迟</a:t>
            </a:r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加速</a:t>
            </a:r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17</a:t>
            </a:r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倍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874C2298-4C5A-568B-FBFA-6159CB0DE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894" y="4343233"/>
            <a:ext cx="8166074" cy="181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835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0159B-3167-BFCB-AD2F-0D19240CD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7383FFB-EDBC-6914-B28F-B5851A1AA1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9434" y="308929"/>
            <a:ext cx="10129666" cy="396875"/>
          </a:xfrm>
        </p:spPr>
        <p:txBody>
          <a:bodyPr/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V1.0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语音大模型规模化落地成果</a:t>
            </a:r>
          </a:p>
          <a:p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9BE69CE-63B5-77C0-2B35-F5FCE81A9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159" y="4475652"/>
            <a:ext cx="4021707" cy="160528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DBE68BC-D3BB-FCCE-C493-383B118D00B9}"/>
              </a:ext>
            </a:extLst>
          </p:cNvPr>
          <p:cNvSpPr txBox="1"/>
          <p:nvPr/>
        </p:nvSpPr>
        <p:spPr>
          <a:xfrm>
            <a:off x="451847" y="4133553"/>
            <a:ext cx="40809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行业对标：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句错字率</a:t>
            </a:r>
            <a:r>
              <a:rPr kumimoji="1" lang="zh-CN" altLang="en-US" sz="1400" b="1" dirty="0">
                <a:solidFill>
                  <a:srgbClr val="0051D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平均</a:t>
            </a:r>
            <a:r>
              <a:rPr kumimoji="1" lang="en-US" altLang="zh-CN" sz="1400" b="1" dirty="0">
                <a:solidFill>
                  <a:srgbClr val="0051D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0.85%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，行业最低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0FFED0-28EB-C9A2-48E2-671C5F06BD4F}"/>
              </a:ext>
            </a:extLst>
          </p:cNvPr>
          <p:cNvSpPr/>
          <p:nvPr/>
        </p:nvSpPr>
        <p:spPr>
          <a:xfrm>
            <a:off x="424978" y="1057418"/>
            <a:ext cx="4573845" cy="5088826"/>
          </a:xfrm>
          <a:prstGeom prst="rect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>
                  <a:lumMod val="6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59D3C87C-68F2-77F1-9205-B560E36C5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208245"/>
              </p:ext>
            </p:extLst>
          </p:nvPr>
        </p:nvGraphicFramePr>
        <p:xfrm>
          <a:off x="580592" y="1700219"/>
          <a:ext cx="4300528" cy="21973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5107">
                  <a:extLst>
                    <a:ext uri="{9D8B030D-6E8A-4147-A177-3AD203B41FA5}">
                      <a16:colId xmlns:a16="http://schemas.microsoft.com/office/drawing/2014/main" val="287300299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905136727"/>
                    </a:ext>
                  </a:extLst>
                </a:gridCol>
                <a:gridCol w="1615221">
                  <a:extLst>
                    <a:ext uri="{9D8B030D-6E8A-4147-A177-3AD203B41FA5}">
                      <a16:colId xmlns:a16="http://schemas.microsoft.com/office/drawing/2014/main" val="79908537"/>
                    </a:ext>
                  </a:extLst>
                </a:gridCol>
              </a:tblGrid>
              <a:tr h="54933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业务</a:t>
                      </a:r>
                      <a:endParaRPr lang="zh-CN" altLang="en-US" sz="1200" b="1" i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人工评估：</a:t>
                      </a:r>
                      <a:endParaRPr lang="en-US" altLang="zh-CN" sz="1200" b="1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优化前</a:t>
                      </a: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句错误率</a:t>
                      </a:r>
                      <a:endParaRPr lang="en-US" altLang="zh-CN" sz="1200" b="1" i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人工评估：</a:t>
                      </a:r>
                      <a:endParaRPr lang="en-US" altLang="zh-CN" sz="1200" b="1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优化后</a:t>
                      </a: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句错误率</a:t>
                      </a:r>
                      <a:endParaRPr lang="en-US" altLang="zh-CN" sz="1200" b="1" i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333534"/>
                  </a:ext>
                </a:extLst>
              </a:tr>
              <a:tr h="549339"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12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指挥官</a:t>
                      </a:r>
                      <a:endParaRPr lang="zh-CN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2.0%/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12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字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200" b="0" dirty="0">
                          <a:solidFill>
                            <a:srgbClr val="0051D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en-US" altLang="zh-CN" sz="1200" b="0" dirty="0">
                          <a:solidFill>
                            <a:srgbClr val="0051D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1.67% </a:t>
                      </a:r>
                      <a:r>
                        <a:rPr lang="zh-CN" altLang="en-US" sz="1200" b="0" dirty="0">
                          <a:solidFill>
                            <a:srgbClr val="0051D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每</a:t>
                      </a:r>
                      <a:r>
                        <a:rPr lang="en-US" altLang="zh-CN" sz="1200" b="0" dirty="0">
                          <a:solidFill>
                            <a:srgbClr val="0051D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0051D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字）</a:t>
                      </a:r>
                      <a:endParaRPr lang="zh-CN" altLang="en-US" sz="1200" b="0" i="0" dirty="0">
                        <a:solidFill>
                          <a:srgbClr val="0051D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1.18%/12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字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200" b="0" dirty="0">
                          <a:solidFill>
                            <a:srgbClr val="0051D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en-US" altLang="zh-CN" sz="1200" b="0" dirty="0">
                          <a:solidFill>
                            <a:srgbClr val="0051D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0.98% </a:t>
                      </a:r>
                      <a:r>
                        <a:rPr lang="zh-CN" altLang="en-US" sz="1200" b="0" dirty="0">
                          <a:solidFill>
                            <a:srgbClr val="0051D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每</a:t>
                      </a:r>
                      <a:r>
                        <a:rPr lang="en-US" altLang="zh-CN" sz="1200" b="0" dirty="0">
                          <a:solidFill>
                            <a:srgbClr val="0051D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0051D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字）</a:t>
                      </a:r>
                      <a:endParaRPr lang="zh-CN" altLang="en-US" sz="1200" b="0" i="0" dirty="0">
                        <a:solidFill>
                          <a:srgbClr val="0051D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315459"/>
                  </a:ext>
                </a:extLst>
              </a:tr>
              <a:tr h="5493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2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灵宝双向</a:t>
                      </a:r>
                      <a:endParaRPr kumimoji="1" lang="en-US" altLang="zh-CN" sz="1200" b="1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5.34%/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44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字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dirty="0">
                          <a:solidFill>
                            <a:srgbClr val="0051D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en-US" altLang="zh-CN" sz="1200" b="0" dirty="0">
                          <a:solidFill>
                            <a:srgbClr val="0051D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1.21%</a:t>
                      </a:r>
                      <a:r>
                        <a:rPr lang="zh-CN" altLang="en-US" sz="1200" b="0" dirty="0">
                          <a:solidFill>
                            <a:srgbClr val="0051D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每</a:t>
                      </a:r>
                      <a:r>
                        <a:rPr lang="en-US" altLang="zh-CN" sz="1200" b="0" dirty="0">
                          <a:solidFill>
                            <a:srgbClr val="0051D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0051D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字）</a:t>
                      </a:r>
                      <a:endParaRPr lang="zh-CN" altLang="en-US" sz="1200" b="0" i="0" dirty="0">
                        <a:solidFill>
                          <a:srgbClr val="0051D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3.55%/44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字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dirty="0">
                          <a:solidFill>
                            <a:srgbClr val="0051D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en-US" altLang="zh-CN" sz="1200" b="0" dirty="0">
                          <a:solidFill>
                            <a:srgbClr val="0051D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0.81%</a:t>
                      </a:r>
                      <a:r>
                        <a:rPr lang="zh-CN" altLang="en-US" sz="1200" b="0" dirty="0">
                          <a:solidFill>
                            <a:srgbClr val="0051D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每</a:t>
                      </a:r>
                      <a:r>
                        <a:rPr lang="en-US" altLang="zh-CN" sz="1200" b="0" dirty="0">
                          <a:solidFill>
                            <a:srgbClr val="0051D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0051D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字）</a:t>
                      </a:r>
                      <a:endParaRPr lang="zh-CN" altLang="en-US" sz="1200" b="0" i="0" dirty="0">
                        <a:solidFill>
                          <a:srgbClr val="0051D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6042813"/>
                  </a:ext>
                </a:extLst>
              </a:tr>
              <a:tr h="5493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2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三角洲</a:t>
                      </a:r>
                      <a:endParaRPr kumimoji="1" lang="en-US" altLang="zh-CN" sz="1200" b="1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5.36%/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字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200" b="0" dirty="0">
                          <a:solidFill>
                            <a:srgbClr val="0051D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en-US" altLang="zh-CN" sz="1200" b="0" dirty="0">
                          <a:solidFill>
                            <a:srgbClr val="0051D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1.07% </a:t>
                      </a:r>
                      <a:r>
                        <a:rPr lang="zh-CN" altLang="en-US" sz="1200" b="0" dirty="0">
                          <a:solidFill>
                            <a:srgbClr val="0051D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每</a:t>
                      </a:r>
                      <a:r>
                        <a:rPr lang="en-US" altLang="zh-CN" sz="1200" b="0" dirty="0">
                          <a:solidFill>
                            <a:srgbClr val="0051D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0051D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字）</a:t>
                      </a:r>
                      <a:endParaRPr lang="zh-CN" altLang="en-US" sz="1200" b="0" i="0" dirty="0">
                        <a:solidFill>
                          <a:srgbClr val="0051D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4.3%/50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字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200" b="0" dirty="0">
                          <a:solidFill>
                            <a:srgbClr val="0051D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en-US" altLang="zh-CN" sz="1200" b="0" dirty="0">
                          <a:solidFill>
                            <a:srgbClr val="0051D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0.86% </a:t>
                      </a:r>
                      <a:r>
                        <a:rPr lang="zh-CN" altLang="en-US" sz="1200" b="0" dirty="0">
                          <a:solidFill>
                            <a:srgbClr val="0051D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每</a:t>
                      </a:r>
                      <a:r>
                        <a:rPr lang="en-US" altLang="zh-CN" sz="1200" b="0" dirty="0">
                          <a:solidFill>
                            <a:srgbClr val="0051D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0051D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字）</a:t>
                      </a:r>
                      <a:endParaRPr lang="zh-CN" altLang="en-US" sz="1200" b="0" i="0" dirty="0">
                        <a:solidFill>
                          <a:srgbClr val="0051D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6153598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810F8065-A70C-0ED4-E3F4-233CD2784A86}"/>
              </a:ext>
            </a:extLst>
          </p:cNvPr>
          <p:cNvSpPr txBox="1"/>
          <p:nvPr/>
        </p:nvSpPr>
        <p:spPr>
          <a:xfrm>
            <a:off x="451847" y="1129982"/>
            <a:ext cx="43330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业务测评：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多个在线业务的错误率降低，发音稳定性提升</a:t>
            </a:r>
          </a:p>
        </p:txBody>
      </p:sp>
      <p:sp>
        <p:nvSpPr>
          <p:cNvPr id="16" name="矩形: 圆角 30">
            <a:extLst>
              <a:ext uri="{FF2B5EF4-FFF2-40B4-BE49-F238E27FC236}">
                <a16:creationId xmlns:a16="http://schemas.microsoft.com/office/drawing/2014/main" id="{1D51A8F0-750E-1791-EBEF-20B49C3CB9D1}"/>
              </a:ext>
            </a:extLst>
          </p:cNvPr>
          <p:cNvSpPr/>
          <p:nvPr/>
        </p:nvSpPr>
        <p:spPr>
          <a:xfrm>
            <a:off x="424978" y="6180566"/>
            <a:ext cx="4573845" cy="368505"/>
          </a:xfrm>
          <a:prstGeom prst="roundRect">
            <a:avLst>
              <a:gd name="adj" fmla="val 5715"/>
            </a:avLst>
          </a:prstGeom>
          <a:solidFill>
            <a:srgbClr val="0051D9"/>
          </a:solidFill>
          <a:ln>
            <a:solidFill>
              <a:srgbClr val="0051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业务价值：有效减少发音错误率</a:t>
            </a: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959A7B59-24B7-6CE5-A0FB-E00653CDC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589712"/>
              </p:ext>
            </p:extLst>
          </p:nvPr>
        </p:nvGraphicFramePr>
        <p:xfrm>
          <a:off x="5369631" y="1138440"/>
          <a:ext cx="6022542" cy="91440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644257">
                  <a:extLst>
                    <a:ext uri="{9D8B030D-6E8A-4147-A177-3AD203B41FA5}">
                      <a16:colId xmlns:a16="http://schemas.microsoft.com/office/drawing/2014/main" val="2873002991"/>
                    </a:ext>
                  </a:extLst>
                </a:gridCol>
                <a:gridCol w="1422669">
                  <a:extLst>
                    <a:ext uri="{9D8B030D-6E8A-4147-A177-3AD203B41FA5}">
                      <a16:colId xmlns:a16="http://schemas.microsoft.com/office/drawing/2014/main" val="28694382"/>
                    </a:ext>
                  </a:extLst>
                </a:gridCol>
                <a:gridCol w="1151132">
                  <a:extLst>
                    <a:ext uri="{9D8B030D-6E8A-4147-A177-3AD203B41FA5}">
                      <a16:colId xmlns:a16="http://schemas.microsoft.com/office/drawing/2014/main" val="2273702004"/>
                    </a:ext>
                  </a:extLst>
                </a:gridCol>
                <a:gridCol w="902242">
                  <a:extLst>
                    <a:ext uri="{9D8B030D-6E8A-4147-A177-3AD203B41FA5}">
                      <a16:colId xmlns:a16="http://schemas.microsoft.com/office/drawing/2014/main" val="12391773"/>
                    </a:ext>
                  </a:extLst>
                </a:gridCol>
                <a:gridCol w="902242">
                  <a:extLst>
                    <a:ext uri="{9D8B030D-6E8A-4147-A177-3AD203B41FA5}">
                      <a16:colId xmlns:a16="http://schemas.microsoft.com/office/drawing/2014/main" val="2595577387"/>
                    </a:ext>
                  </a:extLst>
                </a:gridCol>
              </a:tblGrid>
              <a:tr h="197681">
                <a:tc>
                  <a:txBody>
                    <a:bodyPr/>
                    <a:lstStyle/>
                    <a:p>
                      <a:pPr algn="ctr"/>
                      <a:endParaRPr lang="zh-CN" altLang="en-US" sz="1400" b="1" i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首包等待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↓</a:t>
                      </a:r>
                      <a:endParaRPr lang="zh-CN" altLang="en-US" sz="1400" b="1" i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首包加速↑ </a:t>
                      </a:r>
                      <a:endParaRPr lang="zh-CN" altLang="en-US" sz="1400" b="1" i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WER↓</a:t>
                      </a:r>
                      <a:endParaRPr lang="zh-CN" altLang="en-US" sz="1400" b="1" i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SIM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↑ </a:t>
                      </a:r>
                      <a:endParaRPr lang="zh-CN" altLang="en-US" sz="1400" b="1" i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1571892"/>
                  </a:ext>
                </a:extLst>
              </a:tr>
              <a:tr h="1931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离线生成</a:t>
                      </a:r>
                      <a:endParaRPr kumimoji="1" lang="en-US" altLang="zh-CN" sz="1400" b="1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5.000</a:t>
                      </a:r>
                      <a:endParaRPr lang="zh-CN" altLang="en-US" sz="1400" b="1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1x</a:t>
                      </a:r>
                      <a:endParaRPr lang="zh-CN" altLang="en-US" sz="1400" b="1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1.15</a:t>
                      </a:r>
                      <a:endParaRPr lang="zh-CN" altLang="en-US" sz="1400" b="1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84.3</a:t>
                      </a:r>
                      <a:endParaRPr lang="zh-CN" altLang="en-US" sz="1400" b="1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8202271"/>
                  </a:ext>
                </a:extLst>
              </a:tr>
              <a:tr h="19311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在线生成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FF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0.288</a:t>
                      </a:r>
                      <a:endParaRPr lang="zh-CN" altLang="en-US" sz="1400" b="1" i="0" dirty="0">
                        <a:solidFill>
                          <a:srgbClr val="FF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FF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17x</a:t>
                      </a:r>
                      <a:endParaRPr lang="zh-CN" altLang="en-US" sz="1400" b="1" i="0" dirty="0">
                        <a:solidFill>
                          <a:srgbClr val="FF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FF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1.16</a:t>
                      </a:r>
                      <a:endParaRPr lang="zh-CN" altLang="en-US" sz="1400" b="1" i="0" dirty="0">
                        <a:solidFill>
                          <a:srgbClr val="FF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FF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84.3</a:t>
                      </a:r>
                      <a:endParaRPr lang="zh-CN" altLang="en-US" sz="1400" b="1" i="0" dirty="0">
                        <a:solidFill>
                          <a:srgbClr val="FF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935010"/>
                  </a:ext>
                </a:extLst>
              </a:tr>
            </a:tbl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89211095-66CA-9BAF-1372-EBE28FFE2D4F}"/>
              </a:ext>
            </a:extLst>
          </p:cNvPr>
          <p:cNvSpPr/>
          <p:nvPr/>
        </p:nvSpPr>
        <p:spPr>
          <a:xfrm>
            <a:off x="5154437" y="1057418"/>
            <a:ext cx="6481607" cy="1384883"/>
          </a:xfrm>
          <a:prstGeom prst="rect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>
                  <a:lumMod val="6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矩形: 圆角 30">
            <a:extLst>
              <a:ext uri="{FF2B5EF4-FFF2-40B4-BE49-F238E27FC236}">
                <a16:creationId xmlns:a16="http://schemas.microsoft.com/office/drawing/2014/main" id="{668B78CE-7E35-3E4D-2DF0-8EB0CD7ADD0A}"/>
              </a:ext>
            </a:extLst>
          </p:cNvPr>
          <p:cNvSpPr/>
          <p:nvPr/>
        </p:nvSpPr>
        <p:spPr>
          <a:xfrm>
            <a:off x="5154437" y="2481998"/>
            <a:ext cx="6481607" cy="390346"/>
          </a:xfrm>
          <a:prstGeom prst="roundRect">
            <a:avLst>
              <a:gd name="adj" fmla="val 5715"/>
            </a:avLst>
          </a:prstGeom>
          <a:solidFill>
            <a:srgbClr val="0051D9"/>
          </a:solidFill>
          <a:ln>
            <a:solidFill>
              <a:srgbClr val="0051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业务价值：大幅减小首包耗时，统一离线与在线模型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B041E94-E060-0074-5A95-9914F0F30B44}"/>
              </a:ext>
            </a:extLst>
          </p:cNvPr>
          <p:cNvSpPr txBox="1"/>
          <p:nvPr/>
        </p:nvSpPr>
        <p:spPr>
          <a:xfrm>
            <a:off x="5261707" y="2134524"/>
            <a:ext cx="6196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首包耗时优化至</a:t>
            </a: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300ms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以内，近乎无损的流式生成，助力在线业务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07C4891-052D-D9FB-4AF6-97EF5DE13766}"/>
              </a:ext>
            </a:extLst>
          </p:cNvPr>
          <p:cNvSpPr/>
          <p:nvPr/>
        </p:nvSpPr>
        <p:spPr>
          <a:xfrm>
            <a:off x="5219301" y="3042112"/>
            <a:ext cx="6481606" cy="3078386"/>
          </a:xfrm>
          <a:prstGeom prst="rect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>
                  <a:lumMod val="6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矩形: 圆角 30">
            <a:extLst>
              <a:ext uri="{FF2B5EF4-FFF2-40B4-BE49-F238E27FC236}">
                <a16:creationId xmlns:a16="http://schemas.microsoft.com/office/drawing/2014/main" id="{A75D6592-A565-35EA-8AB0-38406625AA52}"/>
              </a:ext>
            </a:extLst>
          </p:cNvPr>
          <p:cNvSpPr/>
          <p:nvPr/>
        </p:nvSpPr>
        <p:spPr>
          <a:xfrm>
            <a:off x="5219301" y="6144481"/>
            <a:ext cx="6523265" cy="368505"/>
          </a:xfrm>
          <a:prstGeom prst="roundRect">
            <a:avLst>
              <a:gd name="adj" fmla="val 5715"/>
            </a:avLst>
          </a:prstGeom>
          <a:solidFill>
            <a:srgbClr val="0051D9"/>
          </a:solidFill>
          <a:ln>
            <a:solidFill>
              <a:srgbClr val="0051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业务价值：主观效果</a:t>
            </a:r>
            <a:r>
              <a:rPr lang="en-US" altLang="zh-CN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-</a:t>
            </a:r>
            <a:r>
              <a:rPr lang="zh-CN" alt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业务更加认可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D3C225CC-C173-E24E-189C-4ED62AB6A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7683" y="3211388"/>
            <a:ext cx="2262899" cy="1813529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8702A762-EE98-8C1F-453B-B296B2A92328}"/>
              </a:ext>
            </a:extLst>
          </p:cNvPr>
          <p:cNvSpPr txBox="1"/>
          <p:nvPr/>
        </p:nvSpPr>
        <p:spPr>
          <a:xfrm>
            <a:off x="7850025" y="3933486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Cat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D0DA7365-0758-572B-A600-07ACFD65125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2012"/>
          <a:stretch>
            <a:fillRect/>
          </a:stretch>
        </p:blipFill>
        <p:spPr>
          <a:xfrm>
            <a:off x="5357683" y="5521130"/>
            <a:ext cx="2262899" cy="599367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000D065D-AA55-6639-08F6-FA4B52FBE5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7932" y="5420615"/>
            <a:ext cx="1776653" cy="542866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84DCC5B1-85E7-0FC0-8E44-C9F6694169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3731" y="3322936"/>
            <a:ext cx="2421249" cy="1016555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31DD3E64-3C45-172B-73F0-B2287E031375}"/>
              </a:ext>
            </a:extLst>
          </p:cNvPr>
          <p:cNvSpPr txBox="1"/>
          <p:nvPr/>
        </p:nvSpPr>
        <p:spPr>
          <a:xfrm>
            <a:off x="10025773" y="443565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三角洲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14D5DCF-B89C-BF1D-481F-6D0BFF92F582}"/>
              </a:ext>
            </a:extLst>
          </p:cNvPr>
          <p:cNvSpPr txBox="1"/>
          <p:nvPr/>
        </p:nvSpPr>
        <p:spPr>
          <a:xfrm>
            <a:off x="7882398" y="565537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光与夜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7FC29E5-5A9B-E816-2374-2F8C61414DBF}"/>
              </a:ext>
            </a:extLst>
          </p:cNvPr>
          <p:cNvSpPr txBox="1"/>
          <p:nvPr/>
        </p:nvSpPr>
        <p:spPr>
          <a:xfrm>
            <a:off x="8968423" y="557047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电竞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9A01859-842D-44CC-C58A-BE43925912CB}"/>
              </a:ext>
            </a:extLst>
          </p:cNvPr>
          <p:cNvSpPr/>
          <p:nvPr/>
        </p:nvSpPr>
        <p:spPr>
          <a:xfrm>
            <a:off x="10715783" y="3529746"/>
            <a:ext cx="796413" cy="19673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F4077AF-D6F7-E60B-70B1-E3274AE2B810}"/>
              </a:ext>
            </a:extLst>
          </p:cNvPr>
          <p:cNvSpPr/>
          <p:nvPr/>
        </p:nvSpPr>
        <p:spPr>
          <a:xfrm>
            <a:off x="9277577" y="4088038"/>
            <a:ext cx="613638" cy="14906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F660244-6765-DE04-9D91-5FF0CE2013AE}"/>
              </a:ext>
            </a:extLst>
          </p:cNvPr>
          <p:cNvSpPr/>
          <p:nvPr/>
        </p:nvSpPr>
        <p:spPr>
          <a:xfrm>
            <a:off x="6561872" y="4236352"/>
            <a:ext cx="544659" cy="13560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03B76C4-0C42-62DA-A9E2-A7B6D413BB0A}"/>
              </a:ext>
            </a:extLst>
          </p:cNvPr>
          <p:cNvSpPr/>
          <p:nvPr/>
        </p:nvSpPr>
        <p:spPr>
          <a:xfrm>
            <a:off x="6654724" y="5917488"/>
            <a:ext cx="1016658" cy="17493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154E81C-6EF8-7C9F-3DA8-2B9626FB0264}"/>
              </a:ext>
            </a:extLst>
          </p:cNvPr>
          <p:cNvSpPr/>
          <p:nvPr/>
        </p:nvSpPr>
        <p:spPr>
          <a:xfrm>
            <a:off x="6333213" y="4869235"/>
            <a:ext cx="321511" cy="15568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6BDB8D1-02DD-D810-BA5C-42FED98E19CC}"/>
              </a:ext>
            </a:extLst>
          </p:cNvPr>
          <p:cNvSpPr/>
          <p:nvPr/>
        </p:nvSpPr>
        <p:spPr>
          <a:xfrm>
            <a:off x="10335192" y="5697333"/>
            <a:ext cx="967749" cy="17442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9751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21591-ACEC-9940-28BE-DD1F24686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8FDB387-E867-4A68-1A53-4E689E954B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9434" y="308929"/>
            <a:ext cx="10129666" cy="396875"/>
          </a:xfrm>
        </p:spPr>
        <p:txBody>
          <a:bodyPr/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V2.0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语音大模型问题与解决方案</a:t>
            </a:r>
          </a:p>
          <a:p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6" name="矩形: 圆角 30">
            <a:extLst>
              <a:ext uri="{FF2B5EF4-FFF2-40B4-BE49-F238E27FC236}">
                <a16:creationId xmlns:a16="http://schemas.microsoft.com/office/drawing/2014/main" id="{7915DEA9-18E2-71E9-12B8-37CD3E7DF66D}"/>
              </a:ext>
            </a:extLst>
          </p:cNvPr>
          <p:cNvSpPr/>
          <p:nvPr/>
        </p:nvSpPr>
        <p:spPr>
          <a:xfrm>
            <a:off x="3150683" y="980348"/>
            <a:ext cx="8551616" cy="324403"/>
          </a:xfrm>
          <a:prstGeom prst="roundRect">
            <a:avLst>
              <a:gd name="adj" fmla="val 5715"/>
            </a:avLst>
          </a:prstGeom>
          <a:solidFill>
            <a:srgbClr val="0051D9"/>
          </a:solidFill>
          <a:ln>
            <a:solidFill>
              <a:srgbClr val="0051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TTS</a:t>
            </a:r>
            <a:r>
              <a:rPr lang="zh-CN" alt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V2.0</a:t>
            </a:r>
            <a:endParaRPr lang="zh-CN" altLang="en-US" sz="16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7" name="矩形: 圆角 30">
            <a:extLst>
              <a:ext uri="{FF2B5EF4-FFF2-40B4-BE49-F238E27FC236}">
                <a16:creationId xmlns:a16="http://schemas.microsoft.com/office/drawing/2014/main" id="{E42E7337-4CFF-33FE-27C4-75FBFBEEB61E}"/>
              </a:ext>
            </a:extLst>
          </p:cNvPr>
          <p:cNvSpPr/>
          <p:nvPr/>
        </p:nvSpPr>
        <p:spPr>
          <a:xfrm>
            <a:off x="218617" y="936246"/>
            <a:ext cx="2685948" cy="396875"/>
          </a:xfrm>
          <a:prstGeom prst="roundRect">
            <a:avLst>
              <a:gd name="adj" fmla="val 5715"/>
            </a:avLst>
          </a:prstGeom>
          <a:solidFill>
            <a:srgbClr val="0051D9"/>
          </a:solidFill>
          <a:ln>
            <a:solidFill>
              <a:srgbClr val="0051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挑战和问题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6789955-A4B2-F9E6-2F86-BB2891B6C6C1}"/>
              </a:ext>
            </a:extLst>
          </p:cNvPr>
          <p:cNvSpPr/>
          <p:nvPr/>
        </p:nvSpPr>
        <p:spPr>
          <a:xfrm>
            <a:off x="3155576" y="1389948"/>
            <a:ext cx="8551617" cy="5228146"/>
          </a:xfrm>
          <a:prstGeom prst="rect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C08CF3D-54BE-3C81-925D-04F9C742EEB2}"/>
              </a:ext>
            </a:extLst>
          </p:cNvPr>
          <p:cNvSpPr/>
          <p:nvPr/>
        </p:nvSpPr>
        <p:spPr>
          <a:xfrm>
            <a:off x="217371" y="1389948"/>
            <a:ext cx="2694488" cy="5228146"/>
          </a:xfrm>
          <a:prstGeom prst="rect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D966B02-E7DF-91C3-2B2D-8931DEE36E13}"/>
              </a:ext>
            </a:extLst>
          </p:cNvPr>
          <p:cNvSpPr txBox="1"/>
          <p:nvPr/>
        </p:nvSpPr>
        <p:spPr>
          <a:xfrm>
            <a:off x="286160" y="1428769"/>
            <a:ext cx="261840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发音自然度：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）语音缺乏起伏变化：</a:t>
            </a:r>
          </a:p>
          <a:p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）语音的高表现力仍有明显不足：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音色克隆效果需要进一步提升：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目标音色特征还原不够充分；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多语种</a:t>
            </a:r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跨语种拓展：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需要支持任意音色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任意语种合成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B8D7F53-851B-CA7D-5E06-D2E339C76C18}"/>
              </a:ext>
            </a:extLst>
          </p:cNvPr>
          <p:cNvSpPr/>
          <p:nvPr/>
        </p:nvSpPr>
        <p:spPr>
          <a:xfrm>
            <a:off x="4531197" y="3749876"/>
            <a:ext cx="5930194" cy="571993"/>
          </a:xfrm>
          <a:prstGeom prst="rect">
            <a:avLst/>
          </a:prstGeom>
          <a:solidFill>
            <a:srgbClr val="0051D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TTS-LLM</a:t>
            </a:r>
            <a:endParaRPr kumimoji="1" lang="zh-CN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770F93BB-6D39-773D-D52B-AF984884BA2B}"/>
              </a:ext>
            </a:extLst>
          </p:cNvPr>
          <p:cNvSpPr/>
          <p:nvPr/>
        </p:nvSpPr>
        <p:spPr>
          <a:xfrm>
            <a:off x="8054551" y="4584476"/>
            <a:ext cx="455525" cy="1850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SEP</a:t>
            </a:r>
            <a:endParaRPr kumimoji="1" lang="zh-CN" altLang="en-US" sz="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56061372-81E6-15AE-03B7-8442DDD9F780}"/>
              </a:ext>
            </a:extLst>
          </p:cNvPr>
          <p:cNvSpPr/>
          <p:nvPr/>
        </p:nvSpPr>
        <p:spPr>
          <a:xfrm>
            <a:off x="8423441" y="3292001"/>
            <a:ext cx="180870" cy="1952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7780C8CD-3077-DBBF-5306-0A83153CE948}"/>
              </a:ext>
            </a:extLst>
          </p:cNvPr>
          <p:cNvSpPr/>
          <p:nvPr/>
        </p:nvSpPr>
        <p:spPr>
          <a:xfrm>
            <a:off x="8957678" y="3292001"/>
            <a:ext cx="180870" cy="1952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072D495-E2BB-D597-0AE8-F64B8DD629F9}"/>
              </a:ext>
            </a:extLst>
          </p:cNvPr>
          <p:cNvSpPr/>
          <p:nvPr/>
        </p:nvSpPr>
        <p:spPr>
          <a:xfrm>
            <a:off x="9491915" y="3292001"/>
            <a:ext cx="180870" cy="1952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6D0388D6-28FF-B0D7-FDB3-8B68E24B64B9}"/>
              </a:ext>
            </a:extLst>
          </p:cNvPr>
          <p:cNvSpPr/>
          <p:nvPr/>
        </p:nvSpPr>
        <p:spPr>
          <a:xfrm>
            <a:off x="9992285" y="3292001"/>
            <a:ext cx="465139" cy="1952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EOS</a:t>
            </a:r>
            <a:endParaRPr kumimoji="1" lang="zh-CN" altLang="en-US" sz="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0D80B4DB-9D1E-6622-DB54-2B4B636A0C6A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8282314" y="4361115"/>
            <a:ext cx="0" cy="2233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08A43243-A440-E736-1008-2F39B7EEA24E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8513876" y="3487269"/>
            <a:ext cx="0" cy="262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109C5304-93D7-FD85-EFD5-1876E89819D9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9048113" y="3487269"/>
            <a:ext cx="0" cy="262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CF978DE0-7EB8-7973-6ADB-E484AFDD1534}"/>
              </a:ext>
            </a:extLst>
          </p:cNvPr>
          <p:cNvCxnSpPr>
            <a:endCxn id="15" idx="2"/>
          </p:cNvCxnSpPr>
          <p:nvPr/>
        </p:nvCxnSpPr>
        <p:spPr>
          <a:xfrm flipV="1">
            <a:off x="9582350" y="3487269"/>
            <a:ext cx="0" cy="262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F75BC4B6-0016-5253-C92B-AF17006A6A91}"/>
              </a:ext>
            </a:extLst>
          </p:cNvPr>
          <p:cNvCxnSpPr>
            <a:endCxn id="16" idx="2"/>
          </p:cNvCxnSpPr>
          <p:nvPr/>
        </p:nvCxnSpPr>
        <p:spPr>
          <a:xfrm flipV="1">
            <a:off x="10224854" y="3487269"/>
            <a:ext cx="1" cy="262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07033A07-2DF6-D8F6-B3F0-3DACC098B2D4}"/>
              </a:ext>
            </a:extLst>
          </p:cNvPr>
          <p:cNvSpPr/>
          <p:nvPr/>
        </p:nvSpPr>
        <p:spPr>
          <a:xfrm>
            <a:off x="4741185" y="4637539"/>
            <a:ext cx="569403" cy="282116"/>
          </a:xfrm>
          <a:prstGeom prst="roundRect">
            <a:avLst/>
          </a:prstGeom>
          <a:solidFill>
            <a:srgbClr val="F2AA8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FFFF00"/>
              </a:solidFill>
              <a:highlight>
                <a:srgbClr val="FFFF00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67B9B124-5956-92B8-50EA-716A2A25CC1C}"/>
              </a:ext>
            </a:extLst>
          </p:cNvPr>
          <p:cNvSpPr/>
          <p:nvPr/>
        </p:nvSpPr>
        <p:spPr>
          <a:xfrm>
            <a:off x="6934636" y="4649359"/>
            <a:ext cx="569403" cy="28211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A82C4A27-5ADC-0977-3ABD-4F498BC85F70}"/>
              </a:ext>
            </a:extLst>
          </p:cNvPr>
          <p:cNvCxnSpPr>
            <a:cxnSpLocks/>
            <a:stCxn id="24" idx="0"/>
          </p:cNvCxnSpPr>
          <p:nvPr/>
        </p:nvCxnSpPr>
        <p:spPr>
          <a:xfrm flipH="1" flipV="1">
            <a:off x="5022325" y="4326488"/>
            <a:ext cx="3562" cy="3110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2CA50F08-7BEE-564D-DAFD-30D23247077B}"/>
              </a:ext>
            </a:extLst>
          </p:cNvPr>
          <p:cNvCxnSpPr>
            <a:cxnSpLocks/>
            <a:stCxn id="25" idx="0"/>
          </p:cNvCxnSpPr>
          <p:nvPr/>
        </p:nvCxnSpPr>
        <p:spPr>
          <a:xfrm flipH="1" flipV="1">
            <a:off x="7219337" y="4321869"/>
            <a:ext cx="1" cy="327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FB4F639E-4E9D-DD14-D73A-25F6B5C50EA6}"/>
              </a:ext>
            </a:extLst>
          </p:cNvPr>
          <p:cNvSpPr txBox="1"/>
          <p:nvPr/>
        </p:nvSpPr>
        <p:spPr>
          <a:xfrm>
            <a:off x="4460989" y="4943594"/>
            <a:ext cx="11226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说话人</a:t>
            </a:r>
            <a:r>
              <a:rPr kumimoji="1" lang="zh-CN" altLang="en-US" sz="1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编码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A95D907-1962-643D-5B1A-F307A64754EB}"/>
              </a:ext>
            </a:extLst>
          </p:cNvPr>
          <p:cNvSpPr txBox="1"/>
          <p:nvPr/>
        </p:nvSpPr>
        <p:spPr>
          <a:xfrm>
            <a:off x="6807640" y="4958999"/>
            <a:ext cx="9147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推理文本</a:t>
            </a:r>
            <a:endParaRPr kumimoji="1" lang="zh-CN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4E08A787-5E63-04B5-39B0-25E38CB8AF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6332" b="1366"/>
          <a:stretch>
            <a:fillRect/>
          </a:stretch>
        </p:blipFill>
        <p:spPr>
          <a:xfrm>
            <a:off x="6257787" y="5389029"/>
            <a:ext cx="1246252" cy="509902"/>
          </a:xfrm>
          <a:prstGeom prst="rect">
            <a:avLst/>
          </a:prstGeom>
        </p:spPr>
      </p:pic>
      <p:sp>
        <p:nvSpPr>
          <p:cNvPr id="32" name="梯形 31">
            <a:extLst>
              <a:ext uri="{FF2B5EF4-FFF2-40B4-BE49-F238E27FC236}">
                <a16:creationId xmlns:a16="http://schemas.microsoft.com/office/drawing/2014/main" id="{1E55BB0B-F806-DEBE-905D-A170C5913740}"/>
              </a:ext>
            </a:extLst>
          </p:cNvPr>
          <p:cNvSpPr/>
          <p:nvPr/>
        </p:nvSpPr>
        <p:spPr>
          <a:xfrm>
            <a:off x="4241769" y="5418161"/>
            <a:ext cx="1561111" cy="509902"/>
          </a:xfrm>
          <a:prstGeom prst="trapezoid">
            <a:avLst>
              <a:gd name="adj" fmla="val 75552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Audio</a:t>
            </a:r>
          </a:p>
          <a:p>
            <a:pPr algn="ctr"/>
            <a:r>
              <a:rPr kumimoji="1" lang="en-US" altLang="zh-CN" sz="14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Encoder</a:t>
            </a:r>
            <a:endParaRPr kumimoji="1" lang="zh-CN" altLang="en-US" sz="14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750E0AFF-24B6-4292-F8C5-1E89ABBE1CA5}"/>
              </a:ext>
            </a:extLst>
          </p:cNvPr>
          <p:cNvCxnSpPr>
            <a:cxnSpLocks/>
            <a:stCxn id="32" idx="0"/>
            <a:endCxn id="29" idx="2"/>
          </p:cNvCxnSpPr>
          <p:nvPr/>
        </p:nvCxnSpPr>
        <p:spPr>
          <a:xfrm flipV="1">
            <a:off x="5022325" y="5251371"/>
            <a:ext cx="0" cy="166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028FBFBF-AEAD-8900-9C1F-6F3F7E44E510}"/>
              </a:ext>
            </a:extLst>
          </p:cNvPr>
          <p:cNvSpPr/>
          <p:nvPr/>
        </p:nvSpPr>
        <p:spPr>
          <a:xfrm>
            <a:off x="6099422" y="4651318"/>
            <a:ext cx="569403" cy="28211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1299EA1B-244C-86A3-D262-CCD0B7EF154B}"/>
              </a:ext>
            </a:extLst>
          </p:cNvPr>
          <p:cNvCxnSpPr>
            <a:cxnSpLocks/>
            <a:stCxn id="34" idx="0"/>
          </p:cNvCxnSpPr>
          <p:nvPr/>
        </p:nvCxnSpPr>
        <p:spPr>
          <a:xfrm flipH="1" flipV="1">
            <a:off x="6384123" y="4323828"/>
            <a:ext cx="1" cy="327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E3A76967-4B72-4F63-D93B-0B14F640BF9D}"/>
              </a:ext>
            </a:extLst>
          </p:cNvPr>
          <p:cNvSpPr txBox="1"/>
          <p:nvPr/>
        </p:nvSpPr>
        <p:spPr>
          <a:xfrm>
            <a:off x="5972426" y="4960958"/>
            <a:ext cx="9147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语种</a:t>
            </a: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ID</a:t>
            </a:r>
            <a:endParaRPr kumimoji="1" lang="zh-CN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71FB0578-FFC5-3B34-43D5-1214944DD357}"/>
              </a:ext>
            </a:extLst>
          </p:cNvPr>
          <p:cNvSpPr/>
          <p:nvPr/>
        </p:nvSpPr>
        <p:spPr>
          <a:xfrm>
            <a:off x="5496525" y="4556525"/>
            <a:ext cx="455463" cy="20505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BOS</a:t>
            </a:r>
            <a:endParaRPr kumimoji="1" lang="zh-CN" altLang="en-US" sz="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7E32A3D5-ED76-A1F6-020D-CF1C4B230444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5724257" y="4346797"/>
            <a:ext cx="0" cy="209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68943B5B-D8F5-94EE-FF14-71ECC3DE2699}"/>
              </a:ext>
            </a:extLst>
          </p:cNvPr>
          <p:cNvSpPr txBox="1"/>
          <p:nvPr/>
        </p:nvSpPr>
        <p:spPr>
          <a:xfrm>
            <a:off x="3234322" y="1444143"/>
            <a:ext cx="837643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LLM-TTS </a:t>
            </a:r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升级文本 </a:t>
            </a:r>
            <a:r>
              <a:rPr kumimoji="1" lang="en-US" altLang="zh-CN" sz="16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init</a:t>
            </a:r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模型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：强化文本与语音对齐精度，提升韵律自然度；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可学习的 </a:t>
            </a:r>
            <a:r>
              <a:rPr kumimoji="1" lang="en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speaker encoder</a:t>
            </a:r>
            <a:r>
              <a:rPr kumimoji="1" lang="zh-CN" altLang="e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精准捕捉独特声纹特征，</a:t>
            </a:r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自然度与音色克隆能力进一步提升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，音色相似度指标在中英文测试集上分别提升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4-6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个点；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引入语种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ID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，多语种统一建模，支持任意音色跨语种生成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6" name="肘形连接符 45">
            <a:extLst>
              <a:ext uri="{FF2B5EF4-FFF2-40B4-BE49-F238E27FC236}">
                <a16:creationId xmlns:a16="http://schemas.microsoft.com/office/drawing/2014/main" id="{E7BD36A3-EBE9-8B0E-A4BE-88BA3386B54C}"/>
              </a:ext>
            </a:extLst>
          </p:cNvPr>
          <p:cNvCxnSpPr>
            <a:stCxn id="31" idx="2"/>
            <a:endCxn id="32" idx="2"/>
          </p:cNvCxnSpPr>
          <p:nvPr/>
        </p:nvCxnSpPr>
        <p:spPr>
          <a:xfrm rot="5400000">
            <a:off x="5937053" y="4984203"/>
            <a:ext cx="29132" cy="1858588"/>
          </a:xfrm>
          <a:prstGeom prst="bentConnector3">
            <a:avLst>
              <a:gd name="adj1" fmla="val 88470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9841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5C27D-5713-43D1-CCA3-CB06F16C7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2772C52-3A68-CAB0-45D8-1480E8CD6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TTS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V2.0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落地：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突破语音表现力上限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矩形: 圆角 30">
            <a:extLst>
              <a:ext uri="{FF2B5EF4-FFF2-40B4-BE49-F238E27FC236}">
                <a16:creationId xmlns:a16="http://schemas.microsoft.com/office/drawing/2014/main" id="{FD3A8A0F-9618-C188-9B91-13124C15CA9B}"/>
              </a:ext>
            </a:extLst>
          </p:cNvPr>
          <p:cNvSpPr/>
          <p:nvPr/>
        </p:nvSpPr>
        <p:spPr>
          <a:xfrm>
            <a:off x="203067" y="985327"/>
            <a:ext cx="6685039" cy="368505"/>
          </a:xfrm>
          <a:prstGeom prst="roundRect">
            <a:avLst>
              <a:gd name="adj" fmla="val 5715"/>
            </a:avLst>
          </a:prstGeom>
          <a:solidFill>
            <a:srgbClr val="0051D9"/>
          </a:solidFill>
          <a:ln>
            <a:solidFill>
              <a:srgbClr val="0051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自然度效果</a:t>
            </a:r>
          </a:p>
        </p:txBody>
      </p:sp>
      <p:sp>
        <p:nvSpPr>
          <p:cNvPr id="9" name="矩形: 圆角 30">
            <a:extLst>
              <a:ext uri="{FF2B5EF4-FFF2-40B4-BE49-F238E27FC236}">
                <a16:creationId xmlns:a16="http://schemas.microsoft.com/office/drawing/2014/main" id="{DF23EC39-647B-FC96-04CB-FAA7C88795E8}"/>
              </a:ext>
            </a:extLst>
          </p:cNvPr>
          <p:cNvSpPr/>
          <p:nvPr/>
        </p:nvSpPr>
        <p:spPr>
          <a:xfrm>
            <a:off x="203067" y="3145522"/>
            <a:ext cx="6685039" cy="368505"/>
          </a:xfrm>
          <a:prstGeom prst="roundRect">
            <a:avLst>
              <a:gd name="adj" fmla="val 5715"/>
            </a:avLst>
          </a:prstGeom>
          <a:solidFill>
            <a:srgbClr val="0051D9"/>
          </a:solidFill>
          <a:ln>
            <a:solidFill>
              <a:srgbClr val="0051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TTS-V2.0</a:t>
            </a:r>
            <a:r>
              <a:rPr lang="zh-CN" alt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vs</a:t>
            </a:r>
            <a:r>
              <a:rPr lang="zh-CN" alt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业界模型</a:t>
            </a:r>
          </a:p>
        </p:txBody>
      </p:sp>
      <p:sp>
        <p:nvSpPr>
          <p:cNvPr id="17" name="矩形: 圆角 30">
            <a:extLst>
              <a:ext uri="{FF2B5EF4-FFF2-40B4-BE49-F238E27FC236}">
                <a16:creationId xmlns:a16="http://schemas.microsoft.com/office/drawing/2014/main" id="{C4B0D1E4-CA3D-D66B-7967-D04D3776AF2D}"/>
              </a:ext>
            </a:extLst>
          </p:cNvPr>
          <p:cNvSpPr/>
          <p:nvPr/>
        </p:nvSpPr>
        <p:spPr>
          <a:xfrm>
            <a:off x="6998501" y="985327"/>
            <a:ext cx="5059601" cy="368505"/>
          </a:xfrm>
          <a:prstGeom prst="roundRect">
            <a:avLst>
              <a:gd name="adj" fmla="val 5715"/>
            </a:avLst>
          </a:prstGeom>
          <a:solidFill>
            <a:srgbClr val="0051D9"/>
          </a:solidFill>
          <a:ln>
            <a:solidFill>
              <a:srgbClr val="0051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主观效果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C4886C5-C71C-C1F8-9E23-A71C2C12CAAD}"/>
              </a:ext>
            </a:extLst>
          </p:cNvPr>
          <p:cNvSpPr/>
          <p:nvPr/>
        </p:nvSpPr>
        <p:spPr>
          <a:xfrm>
            <a:off x="208115" y="1439799"/>
            <a:ext cx="6670889" cy="1459151"/>
          </a:xfrm>
          <a:prstGeom prst="rect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D89BB8E-003C-37C8-A83C-35839A866DAD}"/>
              </a:ext>
            </a:extLst>
          </p:cNvPr>
          <p:cNvSpPr/>
          <p:nvPr/>
        </p:nvSpPr>
        <p:spPr>
          <a:xfrm>
            <a:off x="208115" y="3595681"/>
            <a:ext cx="6670889" cy="3078254"/>
          </a:xfrm>
          <a:prstGeom prst="rect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73800F9-27B8-A600-4205-EC6D8984F387}"/>
              </a:ext>
            </a:extLst>
          </p:cNvPr>
          <p:cNvSpPr/>
          <p:nvPr/>
        </p:nvSpPr>
        <p:spPr>
          <a:xfrm>
            <a:off x="6998501" y="1439798"/>
            <a:ext cx="5059601" cy="5234137"/>
          </a:xfrm>
          <a:prstGeom prst="rect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5D38C9A-5848-9399-B032-4E8D93425A27}"/>
              </a:ext>
            </a:extLst>
          </p:cNvPr>
          <p:cNvSpPr txBox="1"/>
          <p:nvPr/>
        </p:nvSpPr>
        <p:spPr>
          <a:xfrm>
            <a:off x="7345680" y="2046366"/>
            <a:ext cx="2053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瓶子疾步之嘴复刻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0FC5DDD-F992-03F1-F168-5EA503DADEA6}"/>
              </a:ext>
            </a:extLst>
          </p:cNvPr>
          <p:cNvSpPr txBox="1"/>
          <p:nvPr/>
        </p:nvSpPr>
        <p:spPr>
          <a:xfrm>
            <a:off x="7345680" y="384087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张大仙二路解说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E035C59-7C24-DCB7-1C31-1775314EFC0A}"/>
              </a:ext>
            </a:extLst>
          </p:cNvPr>
          <p:cNvSpPr txBox="1"/>
          <p:nvPr/>
        </p:nvSpPr>
        <p:spPr>
          <a:xfrm>
            <a:off x="7345680" y="550334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张大仙多语种解说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4B79CD4E-1D95-67A4-BA9D-7594E8630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744098"/>
              </p:ext>
            </p:extLst>
          </p:nvPr>
        </p:nvGraphicFramePr>
        <p:xfrm>
          <a:off x="355312" y="1556115"/>
          <a:ext cx="6355817" cy="91440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735247">
                  <a:extLst>
                    <a:ext uri="{9D8B030D-6E8A-4147-A177-3AD203B41FA5}">
                      <a16:colId xmlns:a16="http://schemas.microsoft.com/office/drawing/2014/main" val="2873002991"/>
                    </a:ext>
                  </a:extLst>
                </a:gridCol>
                <a:gridCol w="1501397">
                  <a:extLst>
                    <a:ext uri="{9D8B030D-6E8A-4147-A177-3AD203B41FA5}">
                      <a16:colId xmlns:a16="http://schemas.microsoft.com/office/drawing/2014/main" val="28694382"/>
                    </a:ext>
                  </a:extLst>
                </a:gridCol>
                <a:gridCol w="1214833">
                  <a:extLst>
                    <a:ext uri="{9D8B030D-6E8A-4147-A177-3AD203B41FA5}">
                      <a16:colId xmlns:a16="http://schemas.microsoft.com/office/drawing/2014/main" val="2273702004"/>
                    </a:ext>
                  </a:extLst>
                </a:gridCol>
                <a:gridCol w="952170">
                  <a:extLst>
                    <a:ext uri="{9D8B030D-6E8A-4147-A177-3AD203B41FA5}">
                      <a16:colId xmlns:a16="http://schemas.microsoft.com/office/drawing/2014/main" val="12391773"/>
                    </a:ext>
                  </a:extLst>
                </a:gridCol>
                <a:gridCol w="952170">
                  <a:extLst>
                    <a:ext uri="{9D8B030D-6E8A-4147-A177-3AD203B41FA5}">
                      <a16:colId xmlns:a16="http://schemas.microsoft.com/office/drawing/2014/main" val="2595577387"/>
                    </a:ext>
                  </a:extLst>
                </a:gridCol>
              </a:tblGrid>
              <a:tr h="1976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i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比较项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i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</a:t>
                      </a:r>
                      <a:r>
                        <a:rPr lang="zh-CN" altLang="en-US" sz="1400" b="1" i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i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</a:t>
                      </a:r>
                      <a:r>
                        <a:rPr lang="zh-CN" altLang="en-US" sz="1400" b="1" i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i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差不多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i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时间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1571892"/>
                  </a:ext>
                </a:extLst>
              </a:tr>
              <a:tr h="1931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4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V1.0</a:t>
                      </a:r>
                      <a:r>
                        <a:rPr kumimoji="1" lang="zh-CN" altLang="en-US" sz="14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1" lang="en-US" altLang="zh-CN" sz="14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vs</a:t>
                      </a:r>
                      <a:r>
                        <a:rPr kumimoji="1" lang="zh-CN" altLang="en-US" sz="14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1" lang="en-US" altLang="zh-CN" sz="14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V1.5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25.4%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56.1%</a:t>
                      </a:r>
                      <a:endParaRPr lang="zh-CN" alt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18.6%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2025.08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8202271"/>
                  </a:ext>
                </a:extLst>
              </a:tr>
              <a:tr h="1931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V1.5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vs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V2.0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26.6%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2025.10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935010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4F5C7AEE-C79B-749D-E9E9-491900D5ABDF}"/>
              </a:ext>
            </a:extLst>
          </p:cNvPr>
          <p:cNvSpPr txBox="1"/>
          <p:nvPr/>
        </p:nvSpPr>
        <p:spPr>
          <a:xfrm>
            <a:off x="412008" y="2532016"/>
            <a:ext cx="6196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AB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Test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显示，</a:t>
            </a: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V2.0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</a:t>
            </a: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V1.5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相比上个版本在自然度效果上均有提升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B4FAA59-A647-3DE6-7A9D-03E0AB8C69B1}"/>
              </a:ext>
            </a:extLst>
          </p:cNvPr>
          <p:cNvSpPr txBox="1"/>
          <p:nvPr/>
        </p:nvSpPr>
        <p:spPr>
          <a:xfrm>
            <a:off x="412008" y="6326626"/>
            <a:ext cx="6196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在公开</a:t>
            </a: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benchmark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上，中英文音色相似度相比</a:t>
            </a: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1.0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继续提升，稳定性领先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5B998361-CE82-AA3E-32B8-4A7ED7AFC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08" y="3606408"/>
            <a:ext cx="6196910" cy="2638564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2F681752-7338-AA10-3DCF-8F22723AD8E6}"/>
              </a:ext>
            </a:extLst>
          </p:cNvPr>
          <p:cNvSpPr txBox="1"/>
          <p:nvPr/>
        </p:nvSpPr>
        <p:spPr>
          <a:xfrm>
            <a:off x="7345680" y="253201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4" action="ppaction://hlinksldjump"/>
              </a:rPr>
              <a:t>视频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9101F46-6F58-D947-8B4F-D8054852847F}"/>
              </a:ext>
            </a:extLst>
          </p:cNvPr>
          <p:cNvSpPr txBox="1"/>
          <p:nvPr/>
        </p:nvSpPr>
        <p:spPr>
          <a:xfrm>
            <a:off x="7345679" y="425763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hlinkClick r:id="" action="ppaction://noaction"/>
              </a:rPr>
              <a:t>视频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21D23B2-C12E-DF4B-270F-077A4C932A9E}"/>
              </a:ext>
            </a:extLst>
          </p:cNvPr>
          <p:cNvSpPr txBox="1"/>
          <p:nvPr/>
        </p:nvSpPr>
        <p:spPr>
          <a:xfrm>
            <a:off x="7345678" y="587564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hlinkClick r:id="" action="ppaction://noaction"/>
              </a:rPr>
              <a:t>视频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401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CAC88-EBDF-8E98-03BD-E027ACEFC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F16405F-65F2-8798-C6C3-F283265C37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未来工作与挑战</a:t>
            </a:r>
            <a:endParaRPr kumimoji="1" lang="zh-CN" altLang="en-US" i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B5C2F6D-CEBF-4960-B08B-4BC679A2848A}"/>
              </a:ext>
            </a:extLst>
          </p:cNvPr>
          <p:cNvSpPr txBox="1"/>
          <p:nvPr/>
        </p:nvSpPr>
        <p:spPr>
          <a:xfrm>
            <a:off x="861374" y="1713866"/>
            <a:ext cx="2507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rgbClr val="0051D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提升解说业务拟人度（短）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5BF49DBC-AA66-802D-7E3E-966E800C0BB8}"/>
              </a:ext>
            </a:extLst>
          </p:cNvPr>
          <p:cNvSpPr txBox="1"/>
          <p:nvPr/>
        </p:nvSpPr>
        <p:spPr>
          <a:xfrm>
            <a:off x="4994715" y="1713867"/>
            <a:ext cx="26417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rgbClr val="0051D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风格快速迁移能力（中）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67AD886-328B-F339-181A-19AB7860B61E}"/>
              </a:ext>
            </a:extLst>
          </p:cNvPr>
          <p:cNvSpPr txBox="1"/>
          <p:nvPr/>
        </p:nvSpPr>
        <p:spPr>
          <a:xfrm>
            <a:off x="4503251" y="2259449"/>
            <a:ext cx="354954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更换音色时复用场景划分设计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支持情绪微调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音色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风格任意组合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BAF2983B-3771-D279-1117-11552BF35C88}"/>
              </a:ext>
            </a:extLst>
          </p:cNvPr>
          <p:cNvSpPr txBox="1"/>
          <p:nvPr/>
        </p:nvSpPr>
        <p:spPr>
          <a:xfrm>
            <a:off x="8987278" y="1713867"/>
            <a:ext cx="2741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solidFill>
                  <a:srgbClr val="0051D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Voice</a:t>
            </a:r>
            <a:r>
              <a:rPr kumimoji="1" lang="zh-CN" altLang="en-US" sz="1400" b="1" dirty="0">
                <a:solidFill>
                  <a:srgbClr val="0051D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400" b="1" dirty="0">
                <a:solidFill>
                  <a:srgbClr val="0051D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Design</a:t>
            </a:r>
            <a:r>
              <a:rPr kumimoji="1" lang="zh-CN" altLang="en-US" sz="1400" b="1" dirty="0">
                <a:solidFill>
                  <a:srgbClr val="0051D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（长）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6CB8329B-2915-F752-C598-FF3884A69374}"/>
              </a:ext>
            </a:extLst>
          </p:cNvPr>
          <p:cNvSpPr txBox="1"/>
          <p:nvPr/>
        </p:nvSpPr>
        <p:spPr>
          <a:xfrm>
            <a:off x="8714339" y="2259449"/>
            <a:ext cx="321345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实现任意音色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任意风格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任意语种组合合成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形成业务快速接入体验与业务优化在模型端的解决方案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7CABCE4D-8BB0-26DF-F13F-7C04E06BD1C1}"/>
              </a:ext>
            </a:extLst>
          </p:cNvPr>
          <p:cNvSpPr/>
          <p:nvPr/>
        </p:nvSpPr>
        <p:spPr>
          <a:xfrm>
            <a:off x="290370" y="2164144"/>
            <a:ext cx="3649227" cy="1264856"/>
          </a:xfrm>
          <a:prstGeom prst="rect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>
                  <a:lumMod val="6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630C9D90-4222-DB24-3159-69B3387433D0}"/>
              </a:ext>
            </a:extLst>
          </p:cNvPr>
          <p:cNvSpPr/>
          <p:nvPr/>
        </p:nvSpPr>
        <p:spPr>
          <a:xfrm>
            <a:off x="4485263" y="2164144"/>
            <a:ext cx="3649227" cy="1264856"/>
          </a:xfrm>
          <a:prstGeom prst="rect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>
                  <a:lumMod val="6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41A1758-A630-CD27-8D05-F773C329AB51}"/>
              </a:ext>
            </a:extLst>
          </p:cNvPr>
          <p:cNvSpPr/>
          <p:nvPr/>
        </p:nvSpPr>
        <p:spPr>
          <a:xfrm>
            <a:off x="8696804" y="2164144"/>
            <a:ext cx="3213456" cy="1264856"/>
          </a:xfrm>
          <a:prstGeom prst="rect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>
                  <a:lumMod val="6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9" name="右箭头 68">
            <a:extLst>
              <a:ext uri="{FF2B5EF4-FFF2-40B4-BE49-F238E27FC236}">
                <a16:creationId xmlns:a16="http://schemas.microsoft.com/office/drawing/2014/main" id="{E0CCB826-683E-4B64-30BA-F8DC6896C24E}"/>
              </a:ext>
            </a:extLst>
          </p:cNvPr>
          <p:cNvSpPr/>
          <p:nvPr/>
        </p:nvSpPr>
        <p:spPr>
          <a:xfrm>
            <a:off x="8288924" y="2655090"/>
            <a:ext cx="291911" cy="378267"/>
          </a:xfrm>
          <a:prstGeom prst="rightArrow">
            <a:avLst/>
          </a:prstGeom>
          <a:solidFill>
            <a:srgbClr val="0051D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0" name="右箭头 69">
            <a:extLst>
              <a:ext uri="{FF2B5EF4-FFF2-40B4-BE49-F238E27FC236}">
                <a16:creationId xmlns:a16="http://schemas.microsoft.com/office/drawing/2014/main" id="{DF02D6D6-6320-5119-8639-3E110A2925A2}"/>
              </a:ext>
            </a:extLst>
          </p:cNvPr>
          <p:cNvSpPr/>
          <p:nvPr/>
        </p:nvSpPr>
        <p:spPr>
          <a:xfrm>
            <a:off x="4089042" y="2628781"/>
            <a:ext cx="291911" cy="378267"/>
          </a:xfrm>
          <a:prstGeom prst="rightArrow">
            <a:avLst/>
          </a:prstGeom>
          <a:solidFill>
            <a:srgbClr val="0051D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CD51EC28-33A8-60EA-491D-31163A0E831E}"/>
              </a:ext>
            </a:extLst>
          </p:cNvPr>
          <p:cNvSpPr txBox="1"/>
          <p:nvPr/>
        </p:nvSpPr>
        <p:spPr>
          <a:xfrm>
            <a:off x="340208" y="2259449"/>
            <a:ext cx="354954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非团战场景拟人度优化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文本风格与语音风格匹配优化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强化稳定性，解决发音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case</a:t>
            </a:r>
            <a:endParaRPr lang="zh-CN" alt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A2E50720-EF62-F795-B62F-3FD87C55FCD1}"/>
              </a:ext>
            </a:extLst>
          </p:cNvPr>
          <p:cNvSpPr txBox="1"/>
          <p:nvPr/>
        </p:nvSpPr>
        <p:spPr>
          <a:xfrm>
            <a:off x="4503251" y="3891516"/>
            <a:ext cx="902811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瓶子：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非团战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BP</a:t>
            </a:r>
          </a:p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团战开始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团战持续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团战结束</a:t>
            </a:r>
          </a:p>
        </p:txBody>
      </p:sp>
      <p:sp>
        <p:nvSpPr>
          <p:cNvPr id="73" name="右箭头 72">
            <a:extLst>
              <a:ext uri="{FF2B5EF4-FFF2-40B4-BE49-F238E27FC236}">
                <a16:creationId xmlns:a16="http://schemas.microsoft.com/office/drawing/2014/main" id="{44580411-3332-6167-759F-33B5C783A670}"/>
              </a:ext>
            </a:extLst>
          </p:cNvPr>
          <p:cNvSpPr/>
          <p:nvPr/>
        </p:nvSpPr>
        <p:spPr>
          <a:xfrm>
            <a:off x="6061185" y="4579545"/>
            <a:ext cx="291911" cy="378267"/>
          </a:xfrm>
          <a:prstGeom prst="rightArrow">
            <a:avLst/>
          </a:prstGeom>
          <a:solidFill>
            <a:srgbClr val="0051D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40EE202B-3EB7-DF45-5F32-F4780F665891}"/>
              </a:ext>
            </a:extLst>
          </p:cNvPr>
          <p:cNvSpPr txBox="1"/>
          <p:nvPr/>
        </p:nvSpPr>
        <p:spPr>
          <a:xfrm>
            <a:off x="6894930" y="3891516"/>
            <a:ext cx="902811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张大仙：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非团战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BP</a:t>
            </a:r>
          </a:p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团战开始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团战持续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团战结束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7695C6C5-04E2-96CF-3C99-D977DEAE8904}"/>
              </a:ext>
            </a:extLst>
          </p:cNvPr>
          <p:cNvSpPr txBox="1"/>
          <p:nvPr/>
        </p:nvSpPr>
        <p:spPr>
          <a:xfrm>
            <a:off x="5755734" y="427176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风格迁移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1DF30810-BB10-E31E-8838-685D474160C3}"/>
              </a:ext>
            </a:extLst>
          </p:cNvPr>
          <p:cNvSpPr/>
          <p:nvPr/>
        </p:nvSpPr>
        <p:spPr>
          <a:xfrm>
            <a:off x="8503138" y="4091469"/>
            <a:ext cx="3645665" cy="571993"/>
          </a:xfrm>
          <a:prstGeom prst="rect">
            <a:avLst/>
          </a:prstGeom>
          <a:solidFill>
            <a:srgbClr val="0051D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TTS-LLM</a:t>
            </a:r>
            <a:endParaRPr kumimoji="1" lang="zh-CN" altLang="en-US" sz="16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47A4F25A-7635-47C3-9E01-8CFE4CCA653C}"/>
              </a:ext>
            </a:extLst>
          </p:cNvPr>
          <p:cNvSpPr/>
          <p:nvPr/>
        </p:nvSpPr>
        <p:spPr>
          <a:xfrm>
            <a:off x="10877891" y="3631635"/>
            <a:ext cx="180870" cy="1952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9" name="圆角矩形 78">
            <a:extLst>
              <a:ext uri="{FF2B5EF4-FFF2-40B4-BE49-F238E27FC236}">
                <a16:creationId xmlns:a16="http://schemas.microsoft.com/office/drawing/2014/main" id="{4AFAE5C1-FAFC-E2AF-4E6A-3D7DFE1F4C82}"/>
              </a:ext>
            </a:extLst>
          </p:cNvPr>
          <p:cNvSpPr/>
          <p:nvPr/>
        </p:nvSpPr>
        <p:spPr>
          <a:xfrm>
            <a:off x="11412128" y="3631635"/>
            <a:ext cx="180870" cy="1952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0" name="圆角矩形 79">
            <a:extLst>
              <a:ext uri="{FF2B5EF4-FFF2-40B4-BE49-F238E27FC236}">
                <a16:creationId xmlns:a16="http://schemas.microsoft.com/office/drawing/2014/main" id="{40E66B58-462C-6783-FC15-6D8813C81122}"/>
              </a:ext>
            </a:extLst>
          </p:cNvPr>
          <p:cNvSpPr/>
          <p:nvPr/>
        </p:nvSpPr>
        <p:spPr>
          <a:xfrm>
            <a:off x="11922615" y="3631635"/>
            <a:ext cx="180870" cy="1952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83" name="直线箭头连接符 82">
            <a:extLst>
              <a:ext uri="{FF2B5EF4-FFF2-40B4-BE49-F238E27FC236}">
                <a16:creationId xmlns:a16="http://schemas.microsoft.com/office/drawing/2014/main" id="{CB9BA40A-E66F-03DA-045A-F4E0A730AA42}"/>
              </a:ext>
            </a:extLst>
          </p:cNvPr>
          <p:cNvCxnSpPr>
            <a:cxnSpLocks/>
            <a:endCxn id="78" idx="2"/>
          </p:cNvCxnSpPr>
          <p:nvPr/>
        </p:nvCxnSpPr>
        <p:spPr>
          <a:xfrm flipV="1">
            <a:off x="10968326" y="3826903"/>
            <a:ext cx="0" cy="262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箭头连接符 83">
            <a:extLst>
              <a:ext uri="{FF2B5EF4-FFF2-40B4-BE49-F238E27FC236}">
                <a16:creationId xmlns:a16="http://schemas.microsoft.com/office/drawing/2014/main" id="{0F4E3E93-C6AA-C6F0-9EA5-EB05C6F03549}"/>
              </a:ext>
            </a:extLst>
          </p:cNvPr>
          <p:cNvCxnSpPr>
            <a:cxnSpLocks/>
            <a:endCxn id="79" idx="2"/>
          </p:cNvCxnSpPr>
          <p:nvPr/>
        </p:nvCxnSpPr>
        <p:spPr>
          <a:xfrm flipV="1">
            <a:off x="11502563" y="3826903"/>
            <a:ext cx="0" cy="262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C06F626E-97CB-2091-23DD-AF242EF5F6B6}"/>
              </a:ext>
            </a:extLst>
          </p:cNvPr>
          <p:cNvCxnSpPr>
            <a:endCxn id="80" idx="2"/>
          </p:cNvCxnSpPr>
          <p:nvPr/>
        </p:nvCxnSpPr>
        <p:spPr>
          <a:xfrm flipV="1">
            <a:off x="12013050" y="3826903"/>
            <a:ext cx="0" cy="262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圆角矩形 86">
            <a:extLst>
              <a:ext uri="{FF2B5EF4-FFF2-40B4-BE49-F238E27FC236}">
                <a16:creationId xmlns:a16="http://schemas.microsoft.com/office/drawing/2014/main" id="{DBC684B1-AB80-A560-02C7-ABAECF55499A}"/>
              </a:ext>
            </a:extLst>
          </p:cNvPr>
          <p:cNvSpPr/>
          <p:nvPr/>
        </p:nvSpPr>
        <p:spPr>
          <a:xfrm>
            <a:off x="8314322" y="4979132"/>
            <a:ext cx="569403" cy="282116"/>
          </a:xfrm>
          <a:prstGeom prst="roundRect">
            <a:avLst/>
          </a:prstGeom>
          <a:solidFill>
            <a:srgbClr val="F2AA8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00" dirty="0">
              <a:solidFill>
                <a:srgbClr val="FFFF00"/>
              </a:solidFill>
              <a:highlight>
                <a:srgbClr val="FFFF00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CC6C2716-D9F5-10FD-4642-DEFF17B43FEE}"/>
              </a:ext>
            </a:extLst>
          </p:cNvPr>
          <p:cNvSpPr/>
          <p:nvPr/>
        </p:nvSpPr>
        <p:spPr>
          <a:xfrm>
            <a:off x="10331416" y="4989311"/>
            <a:ext cx="569403" cy="28211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4D260C73-F6F6-332D-BE53-1CB792DAD7C6}"/>
              </a:ext>
            </a:extLst>
          </p:cNvPr>
          <p:cNvCxnSpPr>
            <a:cxnSpLocks/>
            <a:stCxn id="87" idx="0"/>
          </p:cNvCxnSpPr>
          <p:nvPr/>
        </p:nvCxnSpPr>
        <p:spPr>
          <a:xfrm flipH="1" flipV="1">
            <a:off x="8595462" y="4668081"/>
            <a:ext cx="3562" cy="3110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214EB678-ACF6-2F05-B982-35FCC32F65D3}"/>
              </a:ext>
            </a:extLst>
          </p:cNvPr>
          <p:cNvCxnSpPr>
            <a:cxnSpLocks/>
            <a:stCxn id="88" idx="0"/>
          </p:cNvCxnSpPr>
          <p:nvPr/>
        </p:nvCxnSpPr>
        <p:spPr>
          <a:xfrm flipH="1" flipV="1">
            <a:off x="10616117" y="4661821"/>
            <a:ext cx="1" cy="327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文本框 90">
            <a:extLst>
              <a:ext uri="{FF2B5EF4-FFF2-40B4-BE49-F238E27FC236}">
                <a16:creationId xmlns:a16="http://schemas.microsoft.com/office/drawing/2014/main" id="{EF1D1F66-9945-0824-6FAF-56DFD316FB99}"/>
              </a:ext>
            </a:extLst>
          </p:cNvPr>
          <p:cNvSpPr txBox="1"/>
          <p:nvPr/>
        </p:nvSpPr>
        <p:spPr>
          <a:xfrm>
            <a:off x="8034126" y="5285187"/>
            <a:ext cx="11226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音色编码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5E58CBF3-C8F2-9305-EE5B-3020EF532595}"/>
              </a:ext>
            </a:extLst>
          </p:cNvPr>
          <p:cNvSpPr txBox="1"/>
          <p:nvPr/>
        </p:nvSpPr>
        <p:spPr>
          <a:xfrm>
            <a:off x="10204420" y="5298951"/>
            <a:ext cx="9147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推理文本</a:t>
            </a:r>
            <a:endParaRPr kumimoji="1" lang="zh-CN" altLang="en-US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6" name="圆角矩形 95">
            <a:extLst>
              <a:ext uri="{FF2B5EF4-FFF2-40B4-BE49-F238E27FC236}">
                <a16:creationId xmlns:a16="http://schemas.microsoft.com/office/drawing/2014/main" id="{23C1645C-AFB6-0ED6-DD15-D54C5FD99A83}"/>
              </a:ext>
            </a:extLst>
          </p:cNvPr>
          <p:cNvSpPr/>
          <p:nvPr/>
        </p:nvSpPr>
        <p:spPr>
          <a:xfrm>
            <a:off x="9672559" y="4992911"/>
            <a:ext cx="569403" cy="28211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7" name="直线箭头连接符 96">
            <a:extLst>
              <a:ext uri="{FF2B5EF4-FFF2-40B4-BE49-F238E27FC236}">
                <a16:creationId xmlns:a16="http://schemas.microsoft.com/office/drawing/2014/main" id="{942CD035-81A7-5EDD-1240-968512A2A919}"/>
              </a:ext>
            </a:extLst>
          </p:cNvPr>
          <p:cNvCxnSpPr>
            <a:cxnSpLocks/>
            <a:stCxn id="96" idx="0"/>
          </p:cNvCxnSpPr>
          <p:nvPr/>
        </p:nvCxnSpPr>
        <p:spPr>
          <a:xfrm flipH="1" flipV="1">
            <a:off x="9957260" y="4665421"/>
            <a:ext cx="1" cy="327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框 97">
            <a:extLst>
              <a:ext uri="{FF2B5EF4-FFF2-40B4-BE49-F238E27FC236}">
                <a16:creationId xmlns:a16="http://schemas.microsoft.com/office/drawing/2014/main" id="{37F2B299-FEE3-F913-CF39-888F6EC129A3}"/>
              </a:ext>
            </a:extLst>
          </p:cNvPr>
          <p:cNvSpPr txBox="1"/>
          <p:nvPr/>
        </p:nvSpPr>
        <p:spPr>
          <a:xfrm>
            <a:off x="9545563" y="5302551"/>
            <a:ext cx="9147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语种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ID</a:t>
            </a:r>
            <a:endParaRPr kumimoji="1" lang="zh-CN" altLang="en-US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4" name="圆角矩形 103">
            <a:extLst>
              <a:ext uri="{FF2B5EF4-FFF2-40B4-BE49-F238E27FC236}">
                <a16:creationId xmlns:a16="http://schemas.microsoft.com/office/drawing/2014/main" id="{83452356-2115-8407-BADE-EDD82C99B169}"/>
              </a:ext>
            </a:extLst>
          </p:cNvPr>
          <p:cNvSpPr/>
          <p:nvPr/>
        </p:nvSpPr>
        <p:spPr>
          <a:xfrm>
            <a:off x="8987788" y="4990952"/>
            <a:ext cx="569403" cy="2821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00" dirty="0">
              <a:solidFill>
                <a:srgbClr val="FFFF00"/>
              </a:solidFill>
              <a:highlight>
                <a:srgbClr val="FFFF00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93005684-7C04-B4F7-6F55-80E35E7E04CA}"/>
              </a:ext>
            </a:extLst>
          </p:cNvPr>
          <p:cNvCxnSpPr>
            <a:cxnSpLocks/>
            <a:stCxn id="104" idx="0"/>
          </p:cNvCxnSpPr>
          <p:nvPr/>
        </p:nvCxnSpPr>
        <p:spPr>
          <a:xfrm flipH="1" flipV="1">
            <a:off x="9268928" y="4679901"/>
            <a:ext cx="3562" cy="3110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>
            <a:extLst>
              <a:ext uri="{FF2B5EF4-FFF2-40B4-BE49-F238E27FC236}">
                <a16:creationId xmlns:a16="http://schemas.microsoft.com/office/drawing/2014/main" id="{CABB7880-666C-AFB7-6ABD-8C0D64994E51}"/>
              </a:ext>
            </a:extLst>
          </p:cNvPr>
          <p:cNvSpPr txBox="1"/>
          <p:nvPr/>
        </p:nvSpPr>
        <p:spPr>
          <a:xfrm>
            <a:off x="8707592" y="5297007"/>
            <a:ext cx="11226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风格编码</a:t>
            </a:r>
          </a:p>
        </p:txBody>
      </p:sp>
    </p:spTree>
    <p:extLst>
      <p:ext uri="{BB962C8B-B14F-4D97-AF65-F5344CB8AC3E}">
        <p14:creationId xmlns:p14="http://schemas.microsoft.com/office/powerpoint/2010/main" val="2231258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A043A84F-F6B3-291F-B82B-F4A8160B7249}"/>
              </a:ext>
            </a:extLst>
          </p:cNvPr>
          <p:cNvSpPr txBox="1"/>
          <p:nvPr/>
        </p:nvSpPr>
        <p:spPr>
          <a:xfrm>
            <a:off x="1791629" y="2648414"/>
            <a:ext cx="860874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war Neo Sans CN" panose="02000000000000000000" pitchFamily="2" charset="-122"/>
                <a:ea typeface="Nowar Neo Sans CN" panose="02000000000000000000" pitchFamily="2" charset="-122"/>
                <a:cs typeface="Nowar Neo Sans CN" panose="02000000000000000000" pitchFamily="2" charset="-122"/>
              </a:rPr>
              <a:t>THANKS</a:t>
            </a:r>
            <a:endParaRPr kumimoji="0" lang="zh-CN" altLang="en-US" sz="8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war Neo Sans CN" panose="02000000000000000000" pitchFamily="2" charset="-122"/>
              <a:ea typeface="Nowar Neo Sans CN" panose="02000000000000000000" pitchFamily="2" charset="-122"/>
              <a:cs typeface="Nowar Neo Sans CN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2673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述职汇报" id="{E6A468CA-D9FB-9941-8C77-4ECC76ACE738}" vid="{359752E4-D401-7644-9275-DEF45107A720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kumimoji="1"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述职汇报" id="{E6A468CA-D9FB-9941-8C77-4ECC76ACE738}" vid="{359752E4-D401-7644-9275-DEF45107A720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19764</TotalTime>
  <Words>884</Words>
  <Application>Microsoft Macintosh PowerPoint</Application>
  <PresentationFormat>宽屏</PresentationFormat>
  <Paragraphs>204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等线</vt:lpstr>
      <vt:lpstr>Microsoft YaHei</vt:lpstr>
      <vt:lpstr>Glow Sans SC</vt:lpstr>
      <vt:lpstr>Glow Sans SC Normal Book</vt:lpstr>
      <vt:lpstr>Nowar Neo Sans CN</vt:lpstr>
      <vt:lpstr>quote-cjk-patch</vt:lpstr>
      <vt:lpstr>TencentSans W7</vt:lpstr>
      <vt:lpstr>Arial</vt:lpstr>
      <vt:lpstr>Wingdings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T168833</dc:creator>
  <cp:lastModifiedBy>#HU GUOQIANG#</cp:lastModifiedBy>
  <cp:revision>1467</cp:revision>
  <dcterms:created xsi:type="dcterms:W3CDTF">2025-06-13T02:18:26Z</dcterms:created>
  <dcterms:modified xsi:type="dcterms:W3CDTF">2026-08-27T16:27:47Z</dcterms:modified>
</cp:coreProperties>
</file>